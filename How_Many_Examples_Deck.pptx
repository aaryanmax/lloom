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Generic coverage</c:v>
                </c:pt>
              </c:strCache>
            </c:strRef>
          </c:tx>
          <c:spPr>
            <a:ln w="34925">
              <a:solidFill>
                <a:srgbClr val="9AC2BC"/>
              </a:solidFill>
            </a:ln>
          </c:spPr>
          <c:marker>
            <c:spPr>
              <a:solidFill>
                <a:srgbClr val="9AC2BC"/>
              </a:solidFill>
              <a:ln>
                <a:solidFill>
                  <a:srgbClr val="9AC2BC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10</c:v>
                </c:pt>
                <c:pt idx="1">
                  <c:v>25</c:v>
                </c:pt>
                <c:pt idx="2">
                  <c:v>50</c:v>
                </c:pt>
                <c:pt idx="3">
                  <c:v>100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0.25</c:v>
                </c:pt>
                <c:pt idx="2">
                  <c:v>0.7</c:v>
                </c:pt>
                <c:pt idx="3">
                  <c:v>0.75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Specific coverage</c:v>
                </c:pt>
              </c:strCache>
            </c:strRef>
          </c:tx>
          <c:spPr>
            <a:ln w="34925">
              <a:solidFill>
                <a:srgbClr val="0F766E"/>
              </a:solidFill>
            </a:ln>
          </c:spPr>
          <c:marker>
            <c:spPr>
              <a:solidFill>
                <a:srgbClr val="0F766E"/>
              </a:solidFill>
              <a:ln>
                <a:solidFill>
                  <a:srgbClr val="0F766E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10</c:v>
                </c:pt>
                <c:pt idx="1">
                  <c:v>25</c:v>
                </c:pt>
                <c:pt idx="2">
                  <c:v>50</c:v>
                </c:pt>
                <c:pt idx="3">
                  <c:v>100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0.06</c:v>
                </c:pt>
                <c:pt idx="1">
                  <c:v>0.22</c:v>
                </c:pt>
                <c:pt idx="2">
                  <c:v>0.35</c:v>
                </c:pt>
                <c:pt idx="3">
                  <c:v>0.3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sz="1200">
                  <a:solidFill>
                    <a:srgbClr val="15202B"/>
                  </a:solidFill>
                  <a:latin typeface="Segoe U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300">
                    <a:solidFill>
                      <a:srgbClr val="5B6B7B"/>
                    </a:solidFill>
                    <a:latin typeface="Segoe UI"/>
                  </a:rPr>
                  <a:t>documents 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Segoe U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3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Course project for Advanced ML Unit II. We ask a PAC-style question of LLooM (CHI 2024): how many documents does LLM concept induction need before induced concepts cover ground truth?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LLooM beats BERTopic by +17.9% coverage on Congressional bills, but the paper never asks the sample-complexity question. That gap is our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Mini-LLooM: Distill to bullets, cluster embeddings, synthesize one concept per cluster, score A-E. UMAP-&gt;HDBSCAN recipe chosen by an offline harness after the pilot's first NO-GO.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E2 and E3 are fully offline theory modules with textbook answers encoded in tests (thresholds VC=1, intervals VC=2, rectangles VC=4 via the diamond configuration).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pilot was NO-GO (CV 0.75): raw-embedding HDBSCAN fragmented into micro-clusters. UMAP(cosine)-&gt;HDBSCAN + one concept per cluster fixed it (recovery 0.66 vs 0.40 offline). Verdict gate passed: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Weeks 1-3 are complete and the GO/NO-GO gate is passed. The E1 grid is resumable cell by cell; QuotaExceeded pauses it cleanly until the next day's quota.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and closing. Swap in teammate names on the cards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200">
                <a:solidFill>
                  <a:srgbClr val="5EC8BC"/>
                </a:solidFill>
                <a:latin typeface="Segoe UI"/>
              </a:rPr>
              <a:t>ADVANCED ML · UNIT II — PAC LEARNING · VC DIMENSION · NO FREE LUNCH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66751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000" b="1" i="0">
                <a:solidFill>
                  <a:srgbClr val="FFFFFF"/>
                </a:solidFill>
                <a:latin typeface="Segoe UI"/>
              </a:rPr>
              <a:t>How Many Examples
Does It Take?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77639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8FA1B3"/>
                </a:solidFill>
                <a:latin typeface="Segoe UI"/>
              </a:rPr>
              <a:t>The sample complexity &amp; capacity of LLM concept induction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257800"/>
            <a:ext cx="4937760" cy="0"/>
          </a:xfrm>
          <a:prstGeom prst="line">
            <a:avLst/>
          </a:prstGeom>
          <a:ln w="12700">
            <a:solidFill>
              <a:srgbClr val="2A36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44068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E9EFF4"/>
                </a:solidFill>
                <a:latin typeface="Segoe UI"/>
              </a:rPr>
              <a:t>Built on LLooM
</a:t>
            </a:r>
            <a:r>
              <a:rPr sz="1300" b="0" i="0">
                <a:solidFill>
                  <a:srgbClr val="8FA1B3"/>
                </a:solidFill>
                <a:latin typeface="Consolas"/>
              </a:rPr>
              <a:t>Lam et al., CHI 2024 · arXiv:2404.12259</a:t>
            </a:r>
          </a:p>
        </p:txBody>
      </p:sp>
      <p:sp>
        <p:nvSpPr>
          <p:cNvPr id="7" name="Oval 6"/>
          <p:cNvSpPr/>
          <p:nvPr/>
        </p:nvSpPr>
        <p:spPr>
          <a:xfrm>
            <a:off x="7301484" y="5015483"/>
            <a:ext cx="118872" cy="118872"/>
          </a:xfrm>
          <a:prstGeom prst="ellipse">
            <a:avLst/>
          </a:prstGeom>
          <a:solidFill>
            <a:srgbClr val="5E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46462" y="4287725"/>
            <a:ext cx="118872" cy="118872"/>
          </a:xfrm>
          <a:prstGeom prst="ellipse">
            <a:avLst/>
          </a:prstGeom>
          <a:solidFill>
            <a:srgbClr val="5E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91440" y="3713165"/>
            <a:ext cx="118872" cy="118872"/>
          </a:xfrm>
          <a:prstGeom prst="ellipse">
            <a:avLst/>
          </a:prstGeom>
          <a:solidFill>
            <a:srgbClr val="5E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36418" y="3259553"/>
            <a:ext cx="118872" cy="118872"/>
          </a:xfrm>
          <a:prstGeom prst="ellipse">
            <a:avLst/>
          </a:prstGeom>
          <a:solidFill>
            <a:srgbClr val="5E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1396" y="2901430"/>
            <a:ext cx="118872" cy="118872"/>
          </a:xfrm>
          <a:prstGeom prst="ellipse">
            <a:avLst/>
          </a:prstGeom>
          <a:solidFill>
            <a:srgbClr val="5E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026374" y="2618694"/>
            <a:ext cx="118872" cy="118872"/>
          </a:xfrm>
          <a:prstGeom prst="ellipse">
            <a:avLst/>
          </a:prstGeom>
          <a:solidFill>
            <a:srgbClr val="5E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71353" y="2395475"/>
            <a:ext cx="118872" cy="118872"/>
          </a:xfrm>
          <a:prstGeom prst="ellipse">
            <a:avLst/>
          </a:prstGeom>
          <a:solidFill>
            <a:srgbClr val="5E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16331" y="2219246"/>
            <a:ext cx="118872" cy="118872"/>
          </a:xfrm>
          <a:prstGeom prst="ellipse">
            <a:avLst/>
          </a:prstGeom>
          <a:solidFill>
            <a:srgbClr val="5E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61309" y="2080114"/>
            <a:ext cx="118872" cy="118872"/>
          </a:xfrm>
          <a:prstGeom prst="ellipse">
            <a:avLst/>
          </a:prstGeom>
          <a:solidFill>
            <a:srgbClr val="5E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87999" y="1951982"/>
            <a:ext cx="155448" cy="15544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32977" y="1865261"/>
            <a:ext cx="155448" cy="15544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77956" y="1796795"/>
            <a:ext cx="155448" cy="15544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9966960" y="1920239"/>
            <a:ext cx="1600200" cy="0"/>
          </a:xfrm>
          <a:prstGeom prst="line">
            <a:avLst/>
          </a:prstGeom>
          <a:ln w="12700">
            <a:solidFill>
              <a:srgbClr val="3A47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89720" y="14813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A1B3"/>
                </a:solidFill>
                <a:latin typeface="Segoe UI"/>
              </a:rPr>
              <a:t>plateau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53492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A1B3"/>
                </a:solidFill>
                <a:latin typeface="Segoe UI"/>
              </a:rPr>
              <a:t>documents 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5202B"/>
                </a:solidFill>
                <a:latin typeface="Segoe UI"/>
              </a:rPr>
              <a:t>From topic models to concept induction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5B6B7B"/>
                </a:solidFill>
                <a:latin typeface="Segoe UI"/>
              </a:rPr>
              <a:t>Topic models — LDA · BERTopic</a:t>
            </a:r>
          </a:p>
        </p:txBody>
      </p:sp>
      <p:sp>
        <p:nvSpPr>
          <p:cNvPr id="4" name="Oval 3"/>
          <p:cNvSpPr/>
          <p:nvPr/>
        </p:nvSpPr>
        <p:spPr>
          <a:xfrm>
            <a:off x="667512" y="1847088"/>
            <a:ext cx="91440" cy="91440"/>
          </a:xfrm>
          <a:prstGeom prst="ellipse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15202B"/>
                </a:solidFill>
                <a:latin typeface="Segoe UI"/>
              </a:rPr>
              <a:t>Discover co-occurring words, not meanings</a:t>
            </a:r>
          </a:p>
        </p:txBody>
      </p:sp>
      <p:sp>
        <p:nvSpPr>
          <p:cNvPr id="6" name="Oval 5"/>
          <p:cNvSpPr/>
          <p:nvPr/>
        </p:nvSpPr>
        <p:spPr>
          <a:xfrm>
            <a:off x="667512" y="2761488"/>
            <a:ext cx="91440" cy="91440"/>
          </a:xfrm>
          <a:prstGeom prst="ellipse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15202B"/>
                </a:solidFill>
                <a:latin typeface="Segoe UI"/>
              </a:rPr>
              <a:t>Themes readable only as keyword lists</a:t>
            </a:r>
          </a:p>
        </p:txBody>
      </p:sp>
      <p:sp>
        <p:nvSpPr>
          <p:cNvPr id="8" name="Oval 7"/>
          <p:cNvSpPr/>
          <p:nvPr/>
        </p:nvSpPr>
        <p:spPr>
          <a:xfrm>
            <a:off x="667512" y="3675888"/>
            <a:ext cx="91440" cy="91440"/>
          </a:xfrm>
          <a:prstGeom prst="ellipse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611880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15202B"/>
                </a:solidFill>
                <a:latin typeface="Segoe UI"/>
              </a:rPr>
              <a:t>No notion of ground-truth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766E"/>
                </a:solidFill>
                <a:latin typeface="Segoe UI"/>
              </a:rPr>
              <a:t>LLooM — LLM concept induction</a:t>
            </a:r>
          </a:p>
        </p:txBody>
      </p:sp>
      <p:sp>
        <p:nvSpPr>
          <p:cNvPr id="11" name="Oval 10"/>
          <p:cNvSpPr/>
          <p:nvPr/>
        </p:nvSpPr>
        <p:spPr>
          <a:xfrm>
            <a:off x="6428232" y="1847088"/>
            <a:ext cx="91440" cy="914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78308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15202B"/>
                </a:solidFill>
                <a:latin typeface="Segoe UI"/>
              </a:rPr>
              <a:t>LLM induces named concepts: name + criteria + definition</a:t>
            </a:r>
          </a:p>
        </p:txBody>
      </p:sp>
      <p:sp>
        <p:nvSpPr>
          <p:cNvPr id="13" name="Oval 12"/>
          <p:cNvSpPr/>
          <p:nvPr/>
        </p:nvSpPr>
        <p:spPr>
          <a:xfrm>
            <a:off x="6428232" y="2761488"/>
            <a:ext cx="91440" cy="914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69748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15202B"/>
                </a:solidFill>
                <a:latin typeface="Segoe UI"/>
              </a:rPr>
              <a:t>Each concept scored per document (A–E scale)</a:t>
            </a:r>
          </a:p>
        </p:txBody>
      </p:sp>
      <p:sp>
        <p:nvSpPr>
          <p:cNvPr id="15" name="Oval 14"/>
          <p:cNvSpPr/>
          <p:nvPr/>
        </p:nvSpPr>
        <p:spPr>
          <a:xfrm>
            <a:off x="6428232" y="3675888"/>
            <a:ext cx="91440" cy="914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61188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15202B"/>
                </a:solidFill>
                <a:latin typeface="Segoe UI"/>
              </a:rPr>
              <a:t>+17.9% coverage vs BERTopic on Congressional bills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434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Segoe UI"/>
              </a:rPr>
              <a:t>Source: Lam et al., CHI 2024 (arXiv:2404.12259)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53328" y="1325880"/>
            <a:ext cx="0" cy="3429000"/>
          </a:xfrm>
          <a:prstGeom prst="line">
            <a:avLst/>
          </a:prstGeom>
          <a:ln w="12700">
            <a:solidFill>
              <a:srgbClr val="DDE5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0" y="5074920"/>
            <a:ext cx="12191695" cy="1371600"/>
          </a:xfrm>
          <a:prstGeom prst="rect">
            <a:avLst/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03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0F766E"/>
                </a:solidFill>
                <a:latin typeface="Segoe UI"/>
              </a:rPr>
              <a:t>THE OPEN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2356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5202B"/>
                </a:solidFill>
                <a:latin typeface="Segoe UI"/>
              </a:rPr>
              <a:t>How many documents </a:t>
            </a:r>
            <a:r>
              <a:rPr sz="2400" b="1" i="0">
                <a:solidFill>
                  <a:srgbClr val="D97706"/>
                </a:solidFill>
                <a:latin typeface="Segoe UI"/>
              </a:rPr>
              <a:t>n</a:t>
            </a:r>
            <a:r>
              <a:rPr sz="2400" b="1" i="0">
                <a:solidFill>
                  <a:srgbClr val="15202B"/>
                </a:solidFill>
                <a:latin typeface="Segoe UI"/>
              </a:rPr>
              <a:t> before the induced concepts </a:t>
            </a:r>
            <a:r>
              <a:rPr sz="2400" b="1" i="0">
                <a:solidFill>
                  <a:srgbClr val="D97706"/>
                </a:solidFill>
                <a:latin typeface="Segoe UI"/>
              </a:rPr>
              <a:t>cover ground truth?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B6B7B"/>
                </a:solidFill>
                <a:latin typeface="Segoe U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5202B"/>
                </a:solidFill>
                <a:latin typeface="Segoe UI"/>
              </a:rPr>
              <a:t>The pipeline — mini-LLooM, re-engineered for free tiers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691640"/>
            <a:ext cx="1700784" cy="178308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892808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 i="0">
                <a:solidFill>
                  <a:srgbClr val="15202B"/>
                </a:solidFill>
                <a:latin typeface="Segoe UI"/>
              </a:rPr>
              <a:t>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04872"/>
            <a:ext cx="1554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B7B"/>
                </a:solidFill>
                <a:latin typeface="Consolas"/>
              </a:rPr>
              <a:t>n docs · synthetic
</a:t>
            </a:r>
            <a:r>
              <a:rPr sz="1200" b="0" i="0">
                <a:solidFill>
                  <a:srgbClr val="5B6B7B"/>
                </a:solidFill>
                <a:latin typeface="Consolas"/>
              </a:rPr>
              <a:t>4 cells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95144" y="2583180"/>
            <a:ext cx="146304" cy="0"/>
          </a:xfrm>
          <a:prstGeom prst="line">
            <a:avLst/>
          </a:prstGeom>
          <a:ln w="22225">
            <a:solidFill>
              <a:srgbClr val="0F76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68880" y="1691640"/>
            <a:ext cx="1700784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78608" y="1892808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 i="0">
                <a:solidFill>
                  <a:srgbClr val="0F766E"/>
                </a:solidFill>
                <a:latin typeface="Segoe UI"/>
              </a:rPr>
              <a:t>Distill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2404872"/>
            <a:ext cx="1554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B7B"/>
                </a:solidFill>
                <a:latin typeface="Consolas"/>
              </a:rPr>
              <a:t>Qwen3-8B
</a:t>
            </a:r>
            <a:r>
              <a:rPr sz="1200" b="0" i="0">
                <a:solidFill>
                  <a:srgbClr val="5B6B7B"/>
                </a:solidFill>
                <a:latin typeface="Consolas"/>
              </a:rPr>
              <a:t>local llama.cpp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584448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B6B7B"/>
                </a:solidFill>
                <a:latin typeface="Segoe UI"/>
              </a:rPr>
              <a:t>highest volume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97096" y="2583180"/>
            <a:ext cx="146304" cy="0"/>
          </a:xfrm>
          <a:prstGeom prst="line">
            <a:avLst/>
          </a:prstGeom>
          <a:ln w="22225">
            <a:solidFill>
              <a:srgbClr val="0F76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70832" y="1691640"/>
            <a:ext cx="1700784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892808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 i="0">
                <a:solidFill>
                  <a:srgbClr val="0F766E"/>
                </a:solidFill>
                <a:latin typeface="Segoe UI"/>
              </a:rPr>
              <a:t>Cluster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04872"/>
            <a:ext cx="1554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B7B"/>
                </a:solidFill>
                <a:latin typeface="Consolas"/>
              </a:rPr>
              <a:t>bge-small
</a:t>
            </a:r>
            <a:r>
              <a:rPr sz="1200" b="0" i="0">
                <a:solidFill>
                  <a:srgbClr val="5B6B7B"/>
                </a:solidFill>
                <a:latin typeface="Consolas"/>
              </a:rPr>
              <a:t>UMAP &gt; HDBSCAN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3584448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B6B7B"/>
                </a:solidFill>
                <a:latin typeface="Segoe UI"/>
              </a:rPr>
              <a:t>local &amp; free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9048" y="2583180"/>
            <a:ext cx="146304" cy="0"/>
          </a:xfrm>
          <a:prstGeom prst="line">
            <a:avLst/>
          </a:prstGeom>
          <a:ln w="22225">
            <a:solidFill>
              <a:srgbClr val="0F76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72784" y="1691640"/>
            <a:ext cx="1700784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892808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 i="0">
                <a:solidFill>
                  <a:srgbClr val="0F766E"/>
                </a:solidFill>
                <a:latin typeface="Segoe UI"/>
              </a:rPr>
              <a:t>Synthesize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404872"/>
            <a:ext cx="1554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B7B"/>
                </a:solidFill>
                <a:latin typeface="Consolas"/>
              </a:rPr>
              <a:t>Flash-Lite chain
</a:t>
            </a:r>
            <a:r>
              <a:rPr sz="1200" b="0" i="0">
                <a:solidFill>
                  <a:srgbClr val="5B6B7B"/>
                </a:solidFill>
                <a:latin typeface="Consolas"/>
              </a:rPr>
              <a:t>gemini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3584448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Segoe UI"/>
              </a:rPr>
              <a:t>the “smart” call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01000" y="2583180"/>
            <a:ext cx="146304" cy="0"/>
          </a:xfrm>
          <a:prstGeom prst="line">
            <a:avLst/>
          </a:prstGeom>
          <a:ln w="22225">
            <a:solidFill>
              <a:srgbClr val="0F76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74736" y="1691640"/>
            <a:ext cx="1700784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3" y="1892808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 i="0">
                <a:solidFill>
                  <a:srgbClr val="0F766E"/>
                </a:solidFill>
                <a:latin typeface="Segoe UI"/>
              </a:rPr>
              <a:t>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404872"/>
            <a:ext cx="1554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B7B"/>
                </a:solidFill>
                <a:latin typeface="Consolas"/>
              </a:rPr>
              <a:t>Qwen3-8B
</a:t>
            </a:r>
            <a:r>
              <a:rPr sz="1200" b="0" i="0">
                <a:solidFill>
                  <a:srgbClr val="5B6B7B"/>
                </a:solidFill>
                <a:latin typeface="Consolas"/>
              </a:rPr>
              <a:t>20 docs / 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584448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B6B7B"/>
                </a:solidFill>
                <a:latin typeface="Segoe UI"/>
              </a:rPr>
              <a:t>costliest step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902951" y="2583180"/>
            <a:ext cx="146305" cy="0"/>
          </a:xfrm>
          <a:prstGeom prst="line">
            <a:avLst/>
          </a:prstGeom>
          <a:ln w="22225">
            <a:solidFill>
              <a:srgbClr val="0F76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076688" y="1691640"/>
            <a:ext cx="1700784" cy="178308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86415" y="1892808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 i="0">
                <a:solidFill>
                  <a:srgbClr val="15202B"/>
                </a:solidFill>
                <a:latin typeface="Segoe UI"/>
              </a:rPr>
              <a:t>Matcher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2404872"/>
            <a:ext cx="1554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B7B"/>
                </a:solidFill>
                <a:latin typeface="Consolas"/>
              </a:rPr>
              <a:t>few-shot LLM
</a:t>
            </a:r>
            <a:r>
              <a:rPr sz="1200" b="0" i="0">
                <a:solidFill>
                  <a:srgbClr val="5B6B7B"/>
                </a:solidFill>
                <a:latin typeface="Consolas"/>
              </a:rPr>
              <a:t>vs 50 GT concepts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526280"/>
            <a:ext cx="12191695" cy="1188720"/>
          </a:xfrm>
          <a:prstGeom prst="rect">
            <a:avLst/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7731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F766E"/>
                </a:solidFill>
                <a:latin typeface="Segoe UI"/>
              </a:rPr>
              <a:t>Cache-first infrastructure — </a:t>
            </a:r>
            <a:r>
              <a:rPr sz="1450" b="0" i="0">
                <a:solidFill>
                  <a:srgbClr val="15202B"/>
                </a:solidFill>
                <a:latin typeface="Segoe UI"/>
              </a:rPr>
              <a:t>SQLite prompt-hash response cache · per-day quota ledger (500/day per pool) · RPM throttle · atomic resumable run records. Re-runs and demo rehearsals are free.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Segoe UI"/>
              </a:rPr>
              <a:t>Pipeline per LLooM §3; Distill/Score kept local (GTX 1650) to save cloud quota for Synthesize and matching.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B6B7B"/>
                </a:solidFill>
                <a:latin typeface="Segoe U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5202B"/>
                </a:solidFill>
                <a:latin typeface="Segoe UI"/>
              </a:rPr>
              <a:t>Unit II theory, tested empirically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B6B7B"/>
                </a:solidFill>
                <a:latin typeface="Segoe UI"/>
              </a:rPr>
              <a:t>Five experiments connect each classical concept to a measurable question.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5064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D97706"/>
                </a:solidFill>
                <a:latin typeface="Segoe UI"/>
              </a:rPr>
              <a:t>E1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6002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5202B"/>
                </a:solidFill>
                <a:latin typeface="Segoe UI"/>
              </a:rPr>
              <a:t>Coverage vs n  (headline)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984248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7B"/>
                </a:solidFill>
                <a:latin typeface="Segoe UI"/>
              </a:rPr>
              <a:t>5 methods × 5 trials · n ∈ {10, 20, 40, 80, 160} · specific coverage primary (LLooM-Gemini, LLooM-Qwen, zero-shot ×2, BERTopic)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514600"/>
            <a:ext cx="10972800" cy="0"/>
          </a:xfrm>
          <a:prstGeom prst="line">
            <a:avLst/>
          </a:prstGeom>
          <a:ln w="12700">
            <a:solidFill>
              <a:srgbClr val="DDE5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642616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F766E"/>
                </a:solidFill>
                <a:latin typeface="Segoe UI"/>
              </a:rPr>
              <a:t>E2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587752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5202B"/>
                </a:solidFill>
                <a:latin typeface="Segoe UI"/>
              </a:rPr>
              <a:t>PAC sample complexity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971800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7B"/>
                </a:solidFill>
                <a:latin typeface="Segoe UI"/>
              </a:rPr>
              <a:t>Rectangle consistent learner vs Mitchell bound  </a:t>
            </a:r>
            <a:r>
              <a:rPr sz="1350" b="0" i="0">
                <a:solidFill>
                  <a:srgbClr val="0F766E"/>
                </a:solidFill>
                <a:latin typeface="Consolas"/>
              </a:rPr>
              <a:t>m ≥ (4/ε)·ln(13/δ)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3502152"/>
            <a:ext cx="10972800" cy="0"/>
          </a:xfrm>
          <a:prstGeom prst="line">
            <a:avLst/>
          </a:prstGeom>
          <a:ln w="12700">
            <a:solidFill>
              <a:srgbClr val="DDE5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3630168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F766E"/>
                </a:solidFill>
                <a:latin typeface="Segoe UI"/>
              </a:rPr>
              <a:t>E3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575304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5202B"/>
                </a:solidFill>
                <a:latin typeface="Segoe UI"/>
              </a:rPr>
              <a:t>Capacity: growth function → VC dimension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95935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7B"/>
                </a:solidFill>
                <a:latin typeface="Segoe UI"/>
              </a:rPr>
              <a:t>Exact realizability tests → Π_H(m); effective VC dim vs Sauer envelope  </a:t>
            </a:r>
            <a:r>
              <a:rPr sz="1350" b="0" i="0">
                <a:solidFill>
                  <a:srgbClr val="0F766E"/>
                </a:solidFill>
                <a:latin typeface="Consolas"/>
              </a:rPr>
              <a:t>Π_H(m) ≤ (em/d)^d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4489704"/>
            <a:ext cx="10972800" cy="0"/>
          </a:xfrm>
          <a:prstGeom prst="line">
            <a:avLst/>
          </a:prstGeom>
          <a:ln w="12700">
            <a:solidFill>
              <a:srgbClr val="DDE5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4617720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F766E"/>
                </a:solidFill>
                <a:latin typeface="Segoe UI"/>
              </a:rPr>
              <a:t>E4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562856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5202B"/>
                </a:solidFill>
                <a:latin typeface="Segoe UI"/>
              </a:rPr>
              <a:t>Uniform convergence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946904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7B"/>
                </a:solidFill>
                <a:latin typeface="Segoe UI"/>
              </a:rPr>
              <a:t>Empirical vs held-out gap of the Score operator as n grows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5477256"/>
            <a:ext cx="10972800" cy="0"/>
          </a:xfrm>
          <a:prstGeom prst="line">
            <a:avLst/>
          </a:prstGeom>
          <a:ln w="12700">
            <a:solidFill>
              <a:srgbClr val="DDE5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5605272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F766E"/>
                </a:solidFill>
                <a:latin typeface="Segoe UI"/>
              </a:rPr>
              <a:t>E5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550408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5202B"/>
                </a:solidFill>
                <a:latin typeface="Segoe UI"/>
              </a:rPr>
              <a:t>No Free Lunch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934456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7B"/>
                </a:solidFill>
                <a:latin typeface="Segoe UI"/>
              </a:rPr>
              <a:t>Coverage collapse on 10 label-derangement variants (zero fixed points, fixed seeds)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B6B7B"/>
                </a:solidFill>
                <a:latin typeface="Segoe U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5202B"/>
                </a:solidFill>
                <a:latin typeface="Segoe UI"/>
              </a:rPr>
              <a:t>Pilot: coverage grows, then plateaus — verdict GO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25880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623560"/>
            <a:ext cx="6675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B7B"/>
                </a:solidFill>
                <a:latin typeface="Segoe UI"/>
              </a:rPr>
              <a:t>Pilot grid, 2 trials per n (v2 config, 2026-10-06). Specific = paper's 40-concept taxonomy — the trustworthy signal; generic readings are inflated by umbrella over-matching.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26679" y="146304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D97706"/>
                </a:solidFill>
                <a:latin typeface="Segoe UI"/>
              </a:rPr>
              <a:t>0.30 ± 0.07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6679" y="2267712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B7B"/>
                </a:solidFill>
                <a:latin typeface="Segoe UI"/>
              </a:rPr>
              <a:t>specific coverage @ n = 100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26679" y="2880360"/>
            <a:ext cx="3840480" cy="0"/>
          </a:xfrm>
          <a:prstGeom prst="line">
            <a:avLst/>
          </a:prstGeom>
          <a:ln w="12700">
            <a:solidFill>
              <a:srgbClr val="DDE5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26679" y="3035808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766E"/>
                </a:solidFill>
                <a:latin typeface="Segoe UI"/>
              </a:rPr>
              <a:t>CV 0.24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384048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B7B"/>
                </a:solidFill>
                <a:latin typeface="Segoe UI"/>
              </a:rPr>
              <a:t>trial variance ≤ 0.25 bar → verdict GO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26679" y="4453128"/>
            <a:ext cx="3840480" cy="0"/>
          </a:xfrm>
          <a:prstGeom prst="line">
            <a:avLst/>
          </a:prstGeom>
          <a:ln w="12700">
            <a:solidFill>
              <a:srgbClr val="DDE5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26679" y="4608576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766E"/>
                </a:solidFill>
                <a:latin typeface="Segoe UI"/>
              </a:rPr>
              <a:t>8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5413248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B7B"/>
                </a:solidFill>
                <a:latin typeface="Segoe UI"/>
              </a:rPr>
              <a:t>pilot runs completed, zero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B6B7B"/>
                </a:solidFill>
                <a:latin typeface="Segoe U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5202B"/>
                </a:solidFill>
                <a:latin typeface="Segoe UI"/>
              </a:rPr>
              <a:t>Road to the finished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B6B7B"/>
                </a:solidFill>
                <a:latin typeface="Segoe UI"/>
              </a:rPr>
              <a:t>Three milestones done, three to go — every step resumable from the cache.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3063240"/>
            <a:ext cx="9464040" cy="0"/>
          </a:xfrm>
          <a:prstGeom prst="line">
            <a:avLst/>
          </a:prstGeom>
          <a:ln w="25400">
            <a:solidFill>
              <a:srgbClr val="DDE5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261872" y="2953512"/>
            <a:ext cx="219456" cy="21945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F766E"/>
                </a:solidFill>
                <a:latin typeface="Segoe UI"/>
              </a:rPr>
              <a:t>W1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1071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 i="0">
                <a:solidFill>
                  <a:srgbClr val="15202B"/>
                </a:solidFill>
                <a:latin typeface="Segoe UI"/>
              </a:rPr>
              <a:t>Scaffolding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76472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B7B"/>
                </a:solidFill>
                <a:latin typeface="Segoe UI"/>
              </a:rPr>
              <a:t>Dual-LLM client, cache +
ledger, mini-pipeline</a:t>
            </a:r>
          </a:p>
        </p:txBody>
      </p:sp>
      <p:sp>
        <p:nvSpPr>
          <p:cNvPr id="9" name="Oval 8"/>
          <p:cNvSpPr/>
          <p:nvPr/>
        </p:nvSpPr>
        <p:spPr>
          <a:xfrm>
            <a:off x="3154679" y="2953512"/>
            <a:ext cx="219456" cy="21945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50008" y="21945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F766E"/>
                </a:solidFill>
                <a:latin typeface="Segoe UI"/>
              </a:rPr>
              <a:t>W2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008" y="341071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 i="0">
                <a:solidFill>
                  <a:srgbClr val="15202B"/>
                </a:solidFill>
                <a:latin typeface="Segoe UI"/>
              </a:rPr>
              <a:t>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3776472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B7B"/>
                </a:solidFill>
                <a:latin typeface="Segoe UI"/>
              </a:rPr>
              <a:t>160 docs, exact labels,
10 NFL variants</a:t>
            </a:r>
          </a:p>
        </p:txBody>
      </p:sp>
      <p:sp>
        <p:nvSpPr>
          <p:cNvPr id="13" name="Oval 12"/>
          <p:cNvSpPr/>
          <p:nvPr/>
        </p:nvSpPr>
        <p:spPr>
          <a:xfrm>
            <a:off x="5047488" y="2953512"/>
            <a:ext cx="219456" cy="21945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2816" y="21945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F766E"/>
                </a:solidFill>
                <a:latin typeface="Segoe UI"/>
              </a:rPr>
              <a:t>W3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341071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 i="0">
                <a:solidFill>
                  <a:srgbClr val="15202B"/>
                </a:solidFill>
                <a:latin typeface="Segoe UI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2816" y="3776472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B7B"/>
                </a:solidFill>
                <a:latin typeface="Segoe UI"/>
              </a:rPr>
              <a:t>Matcher validated,
verdict GO</a:t>
            </a:r>
          </a:p>
        </p:txBody>
      </p:sp>
      <p:sp>
        <p:nvSpPr>
          <p:cNvPr id="17" name="Oval 16"/>
          <p:cNvSpPr/>
          <p:nvPr/>
        </p:nvSpPr>
        <p:spPr>
          <a:xfrm>
            <a:off x="6912863" y="2926080"/>
            <a:ext cx="274320" cy="27432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5623" y="21945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D97706"/>
                </a:solidFill>
                <a:latin typeface="Segoe UI"/>
              </a:rPr>
              <a:t>W4–5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5623" y="341071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 i="0">
                <a:solidFill>
                  <a:srgbClr val="15202B"/>
                </a:solidFill>
                <a:latin typeface="Segoe UI"/>
              </a:rPr>
              <a:t>Experiments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5623" y="3776472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B7B"/>
                </a:solidFill>
                <a:latin typeface="Segoe UI"/>
              </a:rPr>
              <a:t>E1–E5 grid, quota
spread over days</a:t>
            </a:r>
          </a:p>
        </p:txBody>
      </p:sp>
      <p:sp>
        <p:nvSpPr>
          <p:cNvPr id="21" name="Oval 20"/>
          <p:cNvSpPr/>
          <p:nvPr/>
        </p:nvSpPr>
        <p:spPr>
          <a:xfrm>
            <a:off x="8833104" y="2953512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8431" y="21945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F766E"/>
                </a:solidFill>
                <a:latin typeface="Segoe UI"/>
              </a:rPr>
              <a:t>W6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341071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 i="0">
                <a:solidFill>
                  <a:srgbClr val="15202B"/>
                </a:solidFill>
                <a:latin typeface="Segoe UI"/>
              </a:rPr>
              <a:t>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3776472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B7B"/>
                </a:solidFill>
                <a:latin typeface="Segoe UI"/>
              </a:rPr>
              <a:t>Headline overlay: bound
vs rectangles vs LLMs</a:t>
            </a:r>
          </a:p>
        </p:txBody>
      </p:sp>
      <p:sp>
        <p:nvSpPr>
          <p:cNvPr id="25" name="Oval 24"/>
          <p:cNvSpPr/>
          <p:nvPr/>
        </p:nvSpPr>
        <p:spPr>
          <a:xfrm>
            <a:off x="10725912" y="2953512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21945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F766E"/>
                </a:solidFill>
                <a:latin typeface="Segoe UI"/>
              </a:rPr>
              <a:t>W7–8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341071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 i="0">
                <a:solidFill>
                  <a:srgbClr val="15202B"/>
                </a:solidFill>
                <a:latin typeface="Segoe UI"/>
              </a:rPr>
              <a:t>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776472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B7B"/>
                </a:solidFill>
                <a:latin typeface="Segoe UI"/>
              </a:rPr>
              <a:t>Streamlit demo, Unit-II
report, deck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257800"/>
            <a:ext cx="12191695" cy="1097280"/>
          </a:xfrm>
          <a:prstGeom prst="rect">
            <a:avLst/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86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F766E"/>
                </a:solidFill>
                <a:latin typeface="Segoe UI"/>
              </a:rPr>
              <a:t>Deliverables — </a:t>
            </a:r>
            <a:r>
              <a:rPr sz="1450" b="0" i="0">
                <a:solidFill>
                  <a:srgbClr val="15202B"/>
                </a:solidFill>
                <a:latin typeface="Segoe UI"/>
              </a:rPr>
              <a:t>publication-style charts (theory bound overlaying the LLM &amp; BERTopic curves) · Streamlit live demo · written report mapped to Unit II · presentation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B6B7B"/>
                </a:solidFill>
                <a:latin typeface="Segoe U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200">
                <a:solidFill>
                  <a:srgbClr val="5EC8BC"/>
                </a:solidFill>
                <a:latin typeface="Segoe UI"/>
              </a:rPr>
              <a:t>TEAM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51560"/>
            <a:ext cx="5394960" cy="1691640"/>
          </a:xfrm>
          <a:prstGeom prst="roundRect">
            <a:avLst>
              <a:gd name="adj" fmla="val 9000"/>
            </a:avLst>
          </a:prstGeom>
          <a:solidFill>
            <a:srgbClr val="1A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258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Aaryan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8FA1B3"/>
                </a:solidFill>
                <a:latin typeface="Segoe UI"/>
              </a:rPr>
              <a:t>Design · implementation · experiments ·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C8BC"/>
                </a:solidFill>
                <a:latin typeface="Consolas"/>
              </a:rPr>
              <a:t>github.com/aaryanmax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051560"/>
            <a:ext cx="5212080" cy="1691640"/>
          </a:xfrm>
          <a:prstGeom prst="roundRect">
            <a:avLst>
              <a:gd name="adj" fmla="val 9000"/>
            </a:avLst>
          </a:prstGeom>
          <a:solidFill>
            <a:srgbClr val="1A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25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10512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8FA1B3"/>
                </a:solidFill>
                <a:latin typeface="Segoe UI"/>
              </a:rPr>
              <a:t>Coding-agent driven development
</a:t>
            </a:r>
            <a:r>
              <a:rPr sz="1350" b="0" i="0">
                <a:solidFill>
                  <a:srgbClr val="8FA1B3"/>
                </a:solidFill>
                <a:latin typeface="Segoe UI"/>
              </a:rPr>
              <a:t>72 offline tests + CI gate · cache-first LLM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The answer is </a:t>
            </a:r>
            <a:r>
              <a:rPr sz="3000" b="1" i="0">
                <a:solidFill>
                  <a:srgbClr val="D97706"/>
                </a:solidFill>
                <a:latin typeface="Segoe UI"/>
              </a:rPr>
              <a:t>a curve, not a number</a:t>
            </a:r>
            <a:r>
              <a:rPr sz="3000" b="1" i="0">
                <a:solidFill>
                  <a:srgbClr val="FFFFFF"/>
                </a:solidFill>
                <a:latin typeface="Segoe UI"/>
              </a:rPr>
              <a:t> —
and classical learning theory draws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5780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8FA1B3"/>
                </a:solidFill>
                <a:latin typeface="Segoe UI"/>
              </a:rPr>
              <a:t>Thank you — 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A475C"/>
                </a:solidFill>
                <a:latin typeface="Consolas"/>
              </a:rPr>
              <a:t>AML-Project / lloom-lab · Unit II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