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2000" cy="6858000" type="screen4x3"/>
  <ns0:notesSz cx="6858000" cy="9144000"/>
  <ns0:embeddedFontLst>
    <ns0:embeddedFont>
      <ns0:font typeface="DM Sans"/>
      <ns0:bold ns1:id="rIdFont15"/>
      <ns0:regular ns1:id="rIdFont16"/>
    </ns0:embeddedFont>
    <ns0:embeddedFont>
      <ns0:font typeface="Space Grotesk"/>
      <ns0:bold ns1:id="rIdFont17"/>
    </ns0:embeddedFont>
    <ns0:embeddedFont>
      <ns0:font typeface="JetBrains Mono"/>
      <ns0:bold ns1:id="rIdFont18"/>
      <ns0:regular ns1:id="rIdFont19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Font15" Type="http://schemas.openxmlformats.org/officeDocument/2006/relationships/font" Target="fonts/eaa3bc75-a637-483e-aa24-89def7bec42a.fntdata" /><ns0:Relationship Id="rIdFont16" Type="http://schemas.openxmlformats.org/officeDocument/2006/relationships/font" Target="fonts/e58b4364-fcd8-427f-bf5c-67180b9aacdb.fntdata" /><ns0:Relationship Id="rIdFont17" Type="http://schemas.openxmlformats.org/officeDocument/2006/relationships/font" Target="fonts/67f57cec-6b9d-44e4-b04d-43e1b6955289.fntdata" /><ns0:Relationship Id="rIdFont18" Type="http://schemas.openxmlformats.org/officeDocument/2006/relationships/font" Target="fonts/9185fa19-860d-4e82-bc59-60d719d07803.fntdata" /><ns0:Relationship Id="rIdFont19" Type="http://schemas.openxmlformats.org/officeDocument/2006/relationships/font" Target="fonts/a11d734b-7caa-4fd6-a018-e98162be3d3b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819775"/>
            <a:ext cx="10820400" cy="4286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304877"/>
            <a:ext cx="4962525" cy="1771650"/>
          </a:xfrm>
          <a:prstGeom prst="roundRect">
            <a:avLst>
              <a:gd name="adj" fmla="val 6451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43675" y="3304877"/>
            <a:ext cx="4962525" cy="1771650"/>
          </a:xfrm>
          <a:prstGeom prst="roundRect">
            <a:avLst>
              <a:gd name="adj" fmla="val 6451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819775"/>
            <a:ext cx="108204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925" y="4581227"/>
            <a:ext cx="619125" cy="142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9600"/>
            <a:ext cx="115062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8BDF8"/>
                </a:solidFill>
                <a:latin typeface="JetBrains Mono"/>
              </a:rPr>
              <a:t>EMPIRICAL RE-IMPLEMENTATION STUDY  |  LLooM  |  Lam et al., CHI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90600"/>
            <a:ext cx="11506200" cy="740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b="1" sz="5400" i="0" u="none">
                <a:solidFill>
                  <a:srgbClr val="F8FAFC"/>
                </a:solidFill>
                <a:latin typeface="Space Grotesk"/>
              </a:rPr>
              <a:t>Does LLooM Hold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1668"/>
            <a:ext cx="7524750" cy="639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b="0" sz="1800" i="0" u="none">
                <a:solidFill>
                  <a:srgbClr val="94A3B8"/>
                </a:solidFill>
                <a:latin typeface="DM Sans"/>
              </a:rPr>
              <a:t>Testing concept induction at scale — what the paper claims vs what we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3125" y="4043064"/>
            <a:ext cx="571500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4748B"/>
                </a:solidFill>
                <a:latin typeface="Space Grotesk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57900"/>
            <a:ext cx="675084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CBD5E1"/>
                </a:solidFill>
                <a:latin typeface="JetBrains Mono"/>
              </a:rPr>
              <a:t>125 experiment cells  |  5 methods  |  160-doc synthetic corpus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4300" y="6057900"/>
            <a:ext cx="44577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38BDF8"/>
                </a:solidFill>
                <a:latin typeface="JetBrains Mono"/>
              </a:rPr>
              <a:t>lloom-lab  |  aaryanmax  |  Advanced ML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3609677"/>
            <a:ext cx="5345906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94A3B8"/>
                </a:solidFill>
                <a:latin typeface="JetBrains Mono"/>
              </a:rPr>
              <a:t>LLooM PAPER (CHI 2024 CLAIM)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3857327"/>
            <a:ext cx="5345906" cy="628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900" i="0" u="none">
                <a:solidFill>
                  <a:srgbClr val="38BDF8"/>
                </a:solidFill>
                <a:latin typeface="Space Grotesk"/>
              </a:rPr>
              <a:t>+17.9%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4543127"/>
            <a:ext cx="5345906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E2E8F0"/>
                </a:solidFill>
                <a:latin typeface="DM Sans"/>
              </a:rPr>
              <a:t>Specific coverage over BERTopic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6575" y="3609677"/>
            <a:ext cx="53054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F59E0B"/>
                </a:solidFill>
                <a:latin typeface="JetBrains Mono"/>
              </a:rPr>
              <a:t>OUR STUDY (E1 HEADLINE, 5 TRIALS)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6575" y="3857327"/>
            <a:ext cx="5305425" cy="628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900" i="0" u="none">
                <a:solidFill>
                  <a:srgbClr val="F8FAFC"/>
                </a:solidFill>
                <a:latin typeface="Space Grotesk"/>
              </a:rPr>
              <a:t>0.80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6575" y="4543127"/>
            <a:ext cx="5305425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E2E8F0"/>
                </a:solidFill>
                <a:latin typeface="DM Sans"/>
              </a:rPr>
              <a:t>Specific coverage at </a:t>
            </a:r>
            <a:r>
              <a:rPr b="0" sz="1350" i="0" u="none">
                <a:solidFill>
                  <a:srgbClr val="E2E8F0"/>
                </a:solidFill>
                <a:latin typeface="DM Sans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362575"/>
            <a:ext cx="10972800" cy="1038225"/>
          </a:xfrm>
          <a:prstGeom prst="roundRect">
            <a:avLst>
              <a:gd name="adj" fmla="val 11009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088951"/>
            <a:ext cx="3479750" cy="2346721"/>
          </a:xfrm>
          <a:prstGeom prst="roundRect">
            <a:avLst>
              <a:gd name="adj" fmla="val 48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56050" y="2088951"/>
            <a:ext cx="3479750" cy="2346721"/>
          </a:xfrm>
          <a:prstGeom prst="roundRect">
            <a:avLst>
              <a:gd name="adj" fmla="val 48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02500" y="2088951"/>
            <a:ext cx="3479750" cy="2346721"/>
          </a:xfrm>
          <a:prstGeom prst="roundRect">
            <a:avLst>
              <a:gd name="adj" fmla="val 48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565201"/>
            <a:ext cx="2535435" cy="409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375" y="2565201"/>
            <a:ext cx="2535435" cy="4095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825" y="2565201"/>
            <a:ext cx="2239267" cy="4095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2225" y="3641526"/>
            <a:ext cx="619125" cy="1428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4825" y="3641526"/>
            <a:ext cx="933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3575" y="3679626"/>
            <a:ext cx="104775" cy="952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6000" y="3881437"/>
            <a:ext cx="723900" cy="1428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BASELINE CLAIMS  |  LAM ET AL., CHI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704850"/>
            <a:ext cx="11582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850" i="0" u="none">
                <a:solidFill>
                  <a:srgbClr val="0F172A"/>
                </a:solidFill>
                <a:latin typeface="Space Grotesk"/>
              </a:rPr>
              <a:t>What the Paper Claims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3231951"/>
            <a:ext cx="3742069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DM Sans"/>
              </a:rPr>
              <a:t>Coverage over BERTopic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3603426"/>
            <a:ext cx="2946350" cy="479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b="0" sz="1350" i="0" u="none">
                <a:solidFill>
                  <a:srgbClr val="475569"/>
                </a:solidFill>
                <a:latin typeface="DM Sans"/>
              </a:rPr>
              <a:t>Congressional bills (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475569"/>
                </a:solidFill>
                <a:latin typeface="DM Sans"/>
              </a:rPr>
              <a:t>) specific coverage.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375" y="3231951"/>
            <a:ext cx="3742069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DM Sans"/>
              </a:rPr>
              <a:t>Specific over Generic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375" y="3603426"/>
            <a:ext cx="2946350" cy="479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b="0" sz="1350" i="0" u="none">
                <a:solidFill>
                  <a:srgbClr val="475569"/>
                </a:solidFill>
                <a:latin typeface="DM Sans"/>
              </a:rPr>
              <a:t>Synthetic data (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475569"/>
                </a:solidFill>
                <a:latin typeface="DM Sans"/>
              </a:rPr>
              <a:t>) nuanced criteria win.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6825" y="3231951"/>
            <a:ext cx="3742069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DM Sans"/>
              </a:rPr>
              <a:t>Scorer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6825" y="3603426"/>
            <a:ext cx="2946350" cy="4798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b="0" sz="1350" i="0" u="none">
                <a:solidFill>
                  <a:srgbClr val="475569"/>
                </a:solidFill>
                <a:latin typeface="DM Sans"/>
              </a:rPr>
              <a:t>Cohen's 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475569"/>
                </a:solidFill>
                <a:latin typeface="DM Sans"/>
              </a:rPr>
              <a:t> matches human agreement (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475569"/>
                </a:solidFill>
                <a:latin typeface="DM Sans"/>
              </a:rPr>
              <a:t>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" y="5629275"/>
            <a:ext cx="11239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8BDF8"/>
                </a:solidFill>
                <a:latin typeface="JetBrains Mono"/>
              </a:rPr>
              <a:t>THE QUESTION WE ASKED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5857875"/>
            <a:ext cx="112395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8FAFC"/>
                </a:solidFill>
                <a:latin typeface="DM Sans"/>
              </a:rPr>
              <a:t>Do these gains hold under controlled conditions — and how many documents does it actually take?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829300"/>
            <a:ext cx="10972800" cy="57150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600" y="1857375"/>
          <a:ext cx="10972799" cy="3276600"/>
        </p:xfrm>
        <a:graphic>
          <a:graphicData uri="http://schemas.openxmlformats.org/drawingml/2006/table">
            <a:tbl>
              <a:tblPr firstRow="0" bandRow="0"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975098"/>
                <a:gridCol w="4498776"/>
                <a:gridCol w="4498925"/>
              </a:tblGrid>
              <a:tr h="468085">
                <a:tc>
                  <a:txBody>
                    <a:bodyPr/>
                    <a:lstStyle/>
                    <a:p>
                      <a:pPr algn="l"/>
                      <a:r>
                        <a:rPr b="1" sz="1125" i="0" u="none">
                          <a:solidFill>
                            <a:srgbClr val="475569"/>
                          </a:solidFill>
                          <a:latin typeface="JetBrains Mono"/>
                        </a:rPr>
                        <a:t>STAGE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Paper (Lam et al., CHI 2024)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Our Study (lloom-lab)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8085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Dataset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Congressional bills + misogyny tweets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160-doc synthetic corpus, exact GT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8085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Distill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GPT-4 / GPT-3.5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Qwen3-8B Q4 local (llama.cpp, GTX 1650)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468085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Embed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OpenAI ada-002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bge-small-en-v1.5 + UMAP + HDBSCAN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8085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Synthesize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GPT-4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Gemini Flash-Lite / Qwen3-8B (hybrid)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468085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Score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GPT-3.5 zero-shot, A–E scale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Gemini few-shot matcher, 20 docs/call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809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GT Labels &amp; Cost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Human annotators (~$1.44 per run)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Programmatic zero-error (~$0 local/free)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METHODOLOGY  |  PIPELINE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1582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850" i="0" u="none">
                <a:solidFill>
                  <a:srgbClr val="0F172A"/>
                </a:solidFill>
                <a:latin typeface="Space Grotesk"/>
              </a:rPr>
              <a:t>Our Setup — Faithful but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000750"/>
            <a:ext cx="113538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DM Sans"/>
              </a:rPr>
              <a:t>Key difference: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Ground truth is exact by construction (zero annotation noise) — raising the coverage ceiling.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4991100"/>
            <a:ext cx="34671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05300" y="4991100"/>
            <a:ext cx="35814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15300" y="4991100"/>
            <a:ext cx="34671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485775"/>
            <a:ext cx="1092993" cy="114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5305425"/>
            <a:ext cx="220980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525" y="5305425"/>
            <a:ext cx="30289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525" y="5305425"/>
            <a:ext cx="251460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5772150"/>
            <a:ext cx="104775" cy="1047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1525" y="5972175"/>
            <a:ext cx="619125" cy="1428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704850"/>
            <a:ext cx="11582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850" i="0" u="none">
                <a:solidFill>
                  <a:srgbClr val="0F172A"/>
                </a:solidFill>
                <a:latin typeface="Space Grotesk"/>
              </a:rPr>
              <a:t>Coverage Grows — How Fast, and Which Method Wins?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57200"/>
            <a:ext cx="5524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EXPERIMENT E1  |  125 CELLS  |  5 METHODS  |  5 TRIALS  |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5705475"/>
            <a:ext cx="3009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Coverage curve inflection at ~80 docs.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525" y="5705475"/>
            <a:ext cx="378618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Trial variance collapses as 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grows.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1525" y="5705475"/>
            <a:ext cx="3009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DM Sans"/>
              </a:rPr>
              <a:t>Specific vs generic coverage at 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334000"/>
            <a:ext cx="10972800" cy="106680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119312"/>
            <a:ext cx="4976812" cy="2257425"/>
          </a:xfrm>
          <a:prstGeom prst="roundRect">
            <a:avLst>
              <a:gd name="adj" fmla="val 675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05587" y="2119312"/>
            <a:ext cx="4976812" cy="2257425"/>
          </a:xfrm>
          <a:prstGeom prst="roundRect">
            <a:avLst>
              <a:gd name="adj" fmla="val 6751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9312" y="3048000"/>
            <a:ext cx="333375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695950"/>
            <a:ext cx="1471017" cy="3238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1359" y="2967037"/>
            <a:ext cx="3493293" cy="66377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7346" y="2967037"/>
            <a:ext cx="3493293" cy="66377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643" y="3795712"/>
            <a:ext cx="619125" cy="1428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0224" y="3814762"/>
            <a:ext cx="512564" cy="152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EXPERIMENT E5  |  10 LABEL DERANGEMENTS  |  ZERO FIXED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04850"/>
            <a:ext cx="11582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850" i="0" u="none">
                <a:solidFill>
                  <a:srgbClr val="0F172A"/>
                </a:solidFill>
                <a:latin typeface="Space Grotesk"/>
              </a:rPr>
              <a:t>What Happens When Labels Are Randomized?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0217" y="5619750"/>
            <a:ext cx="8644532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8FAFC"/>
                </a:solidFill>
                <a:latin typeface="DM Sans"/>
              </a:rPr>
              <a:t>Collapse to random chance</a:t>
            </a:r>
            <a:r>
              <a:rPr b="0" sz="1500" i="0" u="none">
                <a:solidFill>
                  <a:srgbClr val="F8FAFC"/>
                </a:solidFill>
                <a:latin typeface="DM Sans"/>
              </a:rPr>
              <a:t> when concept-label alignment breaks — proving paper gains are real, not artifacts.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654" y="2509837"/>
            <a:ext cx="524470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0284C7"/>
                </a:solidFill>
                <a:latin typeface="JetBrains Mono"/>
              </a:rPr>
              <a:t>TRUE LABELS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654" y="3757612"/>
            <a:ext cx="5244703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475569"/>
                </a:solidFill>
                <a:latin typeface="DM Sans"/>
              </a:rPr>
              <a:t>Zero-Shot Gemini at 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1642" y="2509837"/>
            <a:ext cx="524470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DC2626"/>
                </a:solidFill>
                <a:latin typeface="JetBrains Mono"/>
              </a:rPr>
              <a:t>DERANGED LABELS (PERMUTED GT)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9214" y="3757612"/>
            <a:ext cx="2559843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7F1D1D"/>
                </a:solidFill>
                <a:latin typeface="DM Sans"/>
              </a:rPr>
              <a:t>Same docs, permuted GT: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350740"/>
            <a:ext cx="3505200" cy="2861220"/>
          </a:xfrm>
          <a:prstGeom prst="roundRect">
            <a:avLst>
              <a:gd name="adj" fmla="val 399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43400" y="2010072"/>
            <a:ext cx="3505200" cy="3542704"/>
          </a:xfrm>
          <a:prstGeom prst="roundRect">
            <a:avLst>
              <a:gd name="adj" fmla="val 326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77200" y="2243137"/>
            <a:ext cx="3505200" cy="3076575"/>
          </a:xfrm>
          <a:prstGeom prst="roundRect">
            <a:avLst>
              <a:gd name="adj" fmla="val 371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75" y="3500735"/>
            <a:ext cx="741164" cy="2348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975" y="3191172"/>
            <a:ext cx="828675" cy="19942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3424237"/>
            <a:ext cx="1800225" cy="142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1275" y="4383285"/>
            <a:ext cx="209550" cy="1428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5975" y="4324052"/>
            <a:ext cx="266700" cy="76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025" y="3938587"/>
            <a:ext cx="514350" cy="1428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2025" y="4262437"/>
            <a:ext cx="514350" cy="1428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EXPERIMENTS E2, E3, E4  |  LEARNING THEORY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704850"/>
            <a:ext cx="11582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850" i="0" u="none">
                <a:solidFill>
                  <a:srgbClr val="0F172A"/>
                </a:solidFill>
                <a:latin typeface="Space Grotesk"/>
              </a:rPr>
              <a:t>Three More Lenses on Concept Induction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2665065"/>
            <a:ext cx="3690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E2  |  CONSISTENCY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2912715"/>
            <a:ext cx="3875484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Consistent Learner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2324397"/>
            <a:ext cx="3690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E3  |  CONCEPT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9625" y="2572047"/>
            <a:ext cx="3875484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Growth &amp; VC Dimension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2557462"/>
            <a:ext cx="3690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97706"/>
                </a:solidFill>
                <a:latin typeface="JetBrains Mono"/>
              </a:rPr>
              <a:t>E4  |  GENERALIZATION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3425" y="2805112"/>
            <a:ext cx="383857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Train vs Held-Out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4021335"/>
            <a:ext cx="369093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Control: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Axis-aligned rectangles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825" y="4345185"/>
            <a:ext cx="369093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Violations: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0 across 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pairs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825" y="4669035"/>
            <a:ext cx="369093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Role: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Sample complexity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9625" y="3676352"/>
            <a:ext cx="304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Classes: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Threshold 1, Interval 2, Rect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9625" y="4228802"/>
            <a:ext cx="304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Transition: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Exp </a:t>
            </a:r>
            <a:r>
              <a:rPr b="0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poly at shattering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9625" y="4781252"/>
            <a:ext cx="304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Takeaway: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Finite-capacity concept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3425" y="3900487"/>
            <a:ext cx="369093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At </a:t>
            </a:r>
            <a:r>
              <a:rPr b="1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1" sz="1350" i="0" u="none">
                <a:solidFill>
                  <a:srgbClr val="334155"/>
                </a:solidFill>
                <a:latin typeface="DM Sans"/>
              </a:rPr>
              <a:t>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+6.5% training overfit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3425" y="4224337"/>
            <a:ext cx="3690937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At </a:t>
            </a:r>
            <a:r>
              <a:rPr b="1" sz="1350" i="0" u="none">
                <a:solidFill>
                  <a:srgbClr val="0F172A"/>
                </a:solidFill>
                <a:latin typeface="DM Sans"/>
              </a:rPr>
              <a:t> </a:t>
            </a:r>
            <a:r>
              <a:rPr b="1" sz="1350" i="0" u="none">
                <a:solidFill>
                  <a:srgbClr val="334155"/>
                </a:solidFill>
                <a:latin typeface="DM Sans"/>
              </a:rPr>
              <a:t>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Collapses to -0.04%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3425" y="4548187"/>
            <a:ext cx="304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DM Sans"/>
              </a:rPr>
              <a:t>Convergence:</a:t>
            </a:r>
            <a:r>
              <a:rPr b="0" sz="1350" i="0" u="none">
                <a:solidFill>
                  <a:srgbClr val="334155"/>
                </a:solidFill>
                <a:latin typeface="DM Sans"/>
              </a:rPr>
              <a:t> ~80 docs effective 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09600" y="2400300"/>
          <a:ext cx="10972798" cy="4000500"/>
        </p:xfrm>
        <a:graphic>
          <a:graphicData uri="http://schemas.openxmlformats.org/drawingml/2006/table">
            <a:tbl>
              <a:tblPr firstRow="0" bandRow="0"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2852886"/>
                <a:gridCol w="3072258"/>
                <a:gridCol w="3291780"/>
                <a:gridCol w="1755874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125" i="0" u="none">
                          <a:solidFill>
                            <a:srgbClr val="475569"/>
                          </a:solidFill>
                          <a:latin typeface="JetBrains Mono"/>
                        </a:rPr>
                        <a:t>CLAIM / QUESTION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Paper (CHI 2024)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Our Result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Verdict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Coverage &gt; BERTopic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+17.9% on Congressional bills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~0% BERTopic vs 80% LLooM (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n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=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160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16A34A"/>
                          </a:solidFill>
                          <a:latin typeface="DM Sans"/>
                        </a:rPr>
                        <a:t>Confirmed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Specific &gt; Generic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+16.0% (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
          p
         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
          &lt;
         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
          0.0001
         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334155"/>
                          </a:solidFill>
                          <a:latin typeface="DM Sans"/>
                        </a:rPr>
                        <a:t>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Specific 0.80 vs generic 0.90 (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n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=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160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16A34A"/>
                          </a:solidFill>
                          <a:latin typeface="DM Sans"/>
                        </a:rPr>
                        <a:t>Confirmed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Sample Complexity Curve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Not measured (single </a:t>
                      </a:r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
          n
         </a:t>
                      </a:r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0.01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→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0.80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 (~80 docs inflection)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New insight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Variance / Reproducibility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Not measured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CV collapses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2.24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→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0.00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New insight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Label Robustness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Not tested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94.8%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 F
 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 1
 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 collapse on derangements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New insight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Generalization Gap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64748B"/>
                          </a:solidFill>
                          <a:latin typeface="DM Sans"/>
                        </a:rPr>
                        <a:t>Not measured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Gap -0.04% at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n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=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          80
         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
</a:t>
                      </a:r>
                      <a:r>
                        <a:rPr b="0" sz="1350" i="0" u="none">
                          <a:solidFill>
                            <a:srgbClr val="0F172A"/>
                          </a:solidFill>
                          <a:latin typeface="DM Sans"/>
                        </a:rPr>
                        <a:t> (convergence)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 i="0" u="none">
                          <a:solidFill>
                            <a:srgbClr val="0284C7"/>
                          </a:solidFill>
                          <a:latin typeface="DM Sans"/>
                        </a:rPr>
                        <a:t>New insight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JetBrains Mono"/>
              </a:rPr>
              <a:t>SYNTHESIS  |  REPLICATION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1582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850" i="0" u="none">
                <a:solidFill>
                  <a:srgbClr val="0F172A"/>
                </a:solidFill>
                <a:latin typeface="Space Grotesk"/>
              </a:rPr>
              <a:t>Paper vs Our Findings — Side by Side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3692723"/>
            <a:ext cx="4438650" cy="1266825"/>
          </a:xfrm>
          <a:prstGeom prst="roundRect">
            <a:avLst>
              <a:gd name="adj" fmla="val 90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29350" y="3692723"/>
            <a:ext cx="4438650" cy="1266825"/>
          </a:xfrm>
          <a:prstGeom prst="roundRect">
            <a:avLst>
              <a:gd name="adj" fmla="val 90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45593" y="1136451"/>
            <a:ext cx="6500812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125" i="0" u="none">
                <a:solidFill>
                  <a:srgbClr val="38BDF8"/>
                </a:solidFill>
                <a:latin typeface="JetBrains Mono"/>
              </a:rPr>
              <a:t>CONCLUSION  |  arXiv:2404.12259  |  ADVANCED ML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" y="1517451"/>
            <a:ext cx="11811000" cy="1051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140"/>
              </a:lnSpc>
            </a:pPr>
            <a:r>
              <a:rPr b="1" sz="3450" i="0" u="none">
                <a:solidFill>
                  <a:srgbClr val="F8FAFC"/>
                </a:solidFill>
                <a:latin typeface="Space Grotesk"/>
              </a:rPr>
              <a:t>LLooM works — and ~80 documents is where it converges.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1625" y="2721173"/>
            <a:ext cx="904875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650" i="0" u="none">
                <a:solidFill>
                  <a:srgbClr val="94A3B8"/>
                </a:solidFill>
                <a:latin typeface="DM Sans"/>
              </a:rPr>
              <a:t>The paper's gains are real; the sample complexity curve is what was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7421" y="5378648"/>
            <a:ext cx="3917156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2100" i="0" u="none">
                <a:solidFill>
                  <a:srgbClr val="38BDF8"/>
                </a:solidFill>
                <a:latin typeface="Space Grotesk"/>
              </a:rPr>
              <a:t>Thank you —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3921323"/>
            <a:ext cx="488156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8BDF8"/>
                </a:solidFill>
                <a:latin typeface="JetBrains Mono"/>
              </a:rPr>
              <a:t>TEAM &amp;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0700" y="4168973"/>
            <a:ext cx="51256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8FAFC"/>
                </a:solidFill>
                <a:latin typeface="DM Sans"/>
              </a:rPr>
              <a:t>Aaryan (github.com/aaryanmax)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700" y="4502348"/>
            <a:ext cx="488156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CBD5E1"/>
                </a:solidFill>
                <a:latin typeface="DM Sans"/>
              </a:rPr>
              <a:t>Design  |  Pipeline  |  125-cell study  | 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6050" y="3921323"/>
            <a:ext cx="488156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F59E0B"/>
                </a:solidFill>
                <a:latin typeface="JetBrains Mono"/>
              </a:rPr>
              <a:t>ENGINEERING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168973"/>
            <a:ext cx="51256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F8FAFC"/>
                </a:solidFill>
                <a:latin typeface="DM Sans"/>
              </a:rPr>
              <a:t>Qwen3-8B Local + Gemini Flash-Lite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6050" y="4502348"/>
            <a:ext cx="488156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CBD5E1"/>
                </a:solidFill>
                <a:latin typeface="DM Sans"/>
              </a:rPr>
              <a:t>Kaggle T4  |  78 tests  |  SQLite cache  |  Streamlit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