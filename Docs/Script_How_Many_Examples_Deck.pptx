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LLooM-Qwen (ours)</c:v>
                </c:pt>
              </c:strCache>
            </c:strRef>
          </c:tx>
          <c:spPr>
            <a:ln w="31750">
              <a:solidFill>
                <a:srgbClr val="0F766E"/>
              </a:solidFill>
            </a:ln>
          </c:spPr>
          <c:marker>
            <c:spPr>
              <a:solidFill>
                <a:srgbClr val="0F766E"/>
              </a:solidFill>
              <a:ln>
                <a:solidFill>
                  <a:srgbClr val="0F766E"/>
                </a:solidFill>
              </a:ln>
            </c:spPr>
          </c:marker>
          <c:cat>
            <c:strRef>
              <c:f>Sheet1!$A$2:$A$6</c:f>
              <c:strCache>
                <c:ptCount val="5"/>
                <c:pt idx="0">
                  <c:v>10</c:v>
                </c:pt>
                <c:pt idx="1">
                  <c:v>20</c:v>
                </c:pt>
                <c:pt idx="2">
                  <c:v>40</c:v>
                </c:pt>
                <c:pt idx="3">
                  <c:v>80</c:v>
                </c:pt>
                <c:pt idx="4">
                  <c:v>160</c:v>
                </c:pt>
              </c:strCache>
            </c:strRef>
          </c:cat>
          <c:val>
            <c:numRef>
              <c:f>Sheet1!$B$2:$B$6</c:f>
              <c:numCache>
                <c:formatCode>General</c:formatCode>
                <c:ptCount val="5"/>
                <c:pt idx="0">
                  <c:v>0.01</c:v>
                </c:pt>
                <c:pt idx="1">
                  <c:v>0.08</c:v>
                </c:pt>
                <c:pt idx="2">
                  <c:v>0.2</c:v>
                </c:pt>
                <c:pt idx="3">
                  <c:v>0.42</c:v>
                </c:pt>
                <c:pt idx="4">
                  <c:v>0.8</c:v>
                </c:pt>
              </c:numCache>
            </c:numRef>
          </c:val>
          <c:smooth val="0"/>
        </c:ser>
        <c:ser>
          <c:idx val="1"/>
          <c:order val="1"/>
          <c:tx>
            <c:strRef>
              <c:f>Sheet1!$C$1</c:f>
              <c:strCache>
                <c:ptCount val="1"/>
                <c:pt idx="0">
                  <c:v>Zero-Shot Gemini</c:v>
                </c:pt>
              </c:strCache>
            </c:strRef>
          </c:tx>
          <c:spPr>
            <a:ln w="31750">
              <a:solidFill>
                <a:srgbClr val="6B48FF"/>
              </a:solidFill>
            </a:ln>
          </c:spPr>
          <c:marker>
            <c:spPr>
              <a:solidFill>
                <a:srgbClr val="6B48FF"/>
              </a:solidFill>
              <a:ln>
                <a:solidFill>
                  <a:srgbClr val="6B48FF"/>
                </a:solidFill>
              </a:ln>
            </c:spPr>
          </c:marker>
          <c:cat>
            <c:strRef>
              <c:f>Sheet1!$A$2:$A$6</c:f>
              <c:strCache>
                <c:ptCount val="5"/>
                <c:pt idx="0">
                  <c:v>10</c:v>
                </c:pt>
                <c:pt idx="1">
                  <c:v>20</c:v>
                </c:pt>
                <c:pt idx="2">
                  <c:v>40</c:v>
                </c:pt>
                <c:pt idx="3">
                  <c:v>80</c:v>
                </c:pt>
                <c:pt idx="4">
                  <c:v>160</c:v>
                </c:pt>
              </c:strCache>
            </c:strRef>
          </c:cat>
          <c:val>
            <c:numRef>
              <c:f>Sheet1!$C$2:$C$6</c:f>
              <c:numCache>
                <c:formatCode>General</c:formatCode>
                <c:ptCount val="5"/>
                <c:pt idx="0">
                  <c:v>0.73</c:v>
                </c:pt>
                <c:pt idx="1">
                  <c:v>0.9</c:v>
                </c:pt>
                <c:pt idx="2">
                  <c:v>0.91</c:v>
                </c:pt>
                <c:pt idx="3">
                  <c:v>0.99</c:v>
                </c:pt>
                <c:pt idx="4">
                  <c:v>1.0</c:v>
                </c:pt>
              </c:numCache>
            </c:numRef>
          </c:val>
          <c:smooth val="0"/>
        </c:ser>
        <c:ser>
          <c:idx val="2"/>
          <c:order val="2"/>
          <c:tx>
            <c:strRef>
              <c:f>Sheet1!$D$1</c:f>
              <c:strCache>
                <c:ptCount val="1"/>
                <c:pt idx="0">
                  <c:v>Zero-Shot Qwen</c:v>
                </c:pt>
              </c:strCache>
            </c:strRef>
          </c:tx>
          <c:spPr>
            <a:ln w="31750">
              <a:solidFill>
                <a:srgbClr val="5EC8BC"/>
              </a:solidFill>
            </a:ln>
          </c:spPr>
          <c:marker>
            <c:spPr>
              <a:solidFill>
                <a:srgbClr val="5EC8BC"/>
              </a:solidFill>
              <a:ln>
                <a:solidFill>
                  <a:srgbClr val="5EC8BC"/>
                </a:solidFill>
              </a:ln>
            </c:spPr>
          </c:marker>
          <c:cat>
            <c:strRef>
              <c:f>Sheet1!$A$2:$A$6</c:f>
              <c:strCache>
                <c:ptCount val="5"/>
                <c:pt idx="0">
                  <c:v>10</c:v>
                </c:pt>
                <c:pt idx="1">
                  <c:v>20</c:v>
                </c:pt>
                <c:pt idx="2">
                  <c:v>40</c:v>
                </c:pt>
                <c:pt idx="3">
                  <c:v>80</c:v>
                </c:pt>
                <c:pt idx="4">
                  <c:v>160</c:v>
                </c:pt>
              </c:strCache>
            </c:strRef>
          </c:cat>
          <c:val>
            <c:numRef>
              <c:f>Sheet1!$D$2:$D$6</c:f>
              <c:numCache>
                <c:formatCode>General</c:formatCode>
                <c:ptCount val="5"/>
                <c:pt idx="0">
                  <c:v>0.36</c:v>
                </c:pt>
                <c:pt idx="1">
                  <c:v>0.62</c:v>
                </c:pt>
                <c:pt idx="2">
                  <c:v>0.69</c:v>
                </c:pt>
                <c:pt idx="3">
                  <c:v>0.78</c:v>
                </c:pt>
                <c:pt idx="4">
                  <c:v>0.89</c:v>
                </c:pt>
              </c:numCache>
            </c:numRef>
          </c:val>
          <c:smooth val="0"/>
        </c:ser>
        <c:ser>
          <c:idx val="3"/>
          <c:order val="3"/>
          <c:tx>
            <c:strRef>
              <c:f>Sheet1!$E$1</c:f>
              <c:strCache>
                <c:ptCount val="1"/>
                <c:pt idx="0">
                  <c:v>BERTopic</c:v>
                </c:pt>
              </c:strCache>
            </c:strRef>
          </c:tx>
          <c:spPr>
            <a:ln w="31750">
              <a:solidFill>
                <a:srgbClr val="5B6B7B"/>
              </a:solidFill>
            </a:ln>
          </c:spPr>
          <c:marker>
            <c:spPr>
              <a:solidFill>
                <a:srgbClr val="5B6B7B"/>
              </a:solidFill>
              <a:ln>
                <a:solidFill>
                  <a:srgbClr val="5B6B7B"/>
                </a:solidFill>
              </a:ln>
            </c:spPr>
          </c:marker>
          <c:cat>
            <c:strRef>
              <c:f>Sheet1!$A$2:$A$6</c:f>
              <c:strCache>
                <c:ptCount val="5"/>
                <c:pt idx="0">
                  <c:v>10</c:v>
                </c:pt>
                <c:pt idx="1">
                  <c:v>20</c:v>
                </c:pt>
                <c:pt idx="2">
                  <c:v>40</c:v>
                </c:pt>
                <c:pt idx="3">
                  <c:v>80</c:v>
                </c:pt>
                <c:pt idx="4">
                  <c:v>160</c:v>
                </c:pt>
              </c:strCache>
            </c:strRef>
          </c:cat>
          <c:val>
            <c:numRef>
              <c:f>Sheet1!$E$2:$E$6</c:f>
              <c:numCache>
                <c:formatCode>General</c:formatCode>
                <c:ptCount val="5"/>
                <c:pt idx="0">
                  <c:v>0.0</c:v>
                </c:pt>
                <c:pt idx="1">
                  <c:v>0.02</c:v>
                </c:pt>
                <c:pt idx="2">
                  <c:v>0.0</c:v>
                </c:pt>
                <c:pt idx="3">
                  <c:v>0.01</c:v>
                </c:pt>
                <c:pt idx="4">
                  <c:v>0.0</c:v>
                </c:pt>
              </c:numCache>
            </c:numRef>
          </c:val>
          <c:smooth val="0"/>
        </c:ser>
        <c:marker val="1"/>
        <c:smooth val="0"/>
        <c:axId val="2118791784"/>
        <c:axId val="2140495176"/>
      </c:lineChart>
      <c:catAx>
        <c:axId val="2118791784"/>
        <c:scaling>
          <c:orientation val="minMax"/>
        </c:scaling>
        <c:delete val="0"/>
        <c:axPos val="b"/>
        <c:title>
          <c:tx>
            <c:rich>
              <a:bodyPr/>
              <a:lstStyle/>
              <a:p>
                <a:r>
                  <a:rPr sz="1200">
                    <a:solidFill>
                      <a:srgbClr val="5B6B7B"/>
                    </a:solidFill>
                    <a:latin typeface="Segoe UI"/>
                  </a:rPr>
                  <a:t>documents (n)</a:t>
                </a:r>
              </a:p>
            </c:rich>
          </c:tx>
          <c:layout/>
          <c:overlay val="0"/>
        </c:title>
        <c:majorTickMark val="out"/>
        <c:minorTickMark val="none"/>
        <c:tickLblPos val="nextTo"/>
        <c:txPr>
          <a:bodyPr/>
          <a:lstStyle/>
          <a:p>
            <a:pPr>
              <a:defRPr sz="1200">
                <a:latin typeface="Segoe UI"/>
              </a:defRPr>
            </a:pPr>
          </a:p>
        </c:txPr>
        <c:crossAx val="2140495176"/>
        <c:crosses val="autoZero"/>
        <c:auto val="1"/>
        <c:lblAlgn val="ctr"/>
        <c:lblOffset val="100"/>
        <c:noMultiLvlLbl val="0"/>
      </c:catAx>
      <c:valAx>
        <c:axId val="2140495176"/>
        <c:scaling>
          <c:max val="1.0"/>
          <c:min val="0.0"/>
        </c:scaling>
        <c:delete val="0"/>
        <c:axPos val="l"/>
        <c:majorGridlines>
          <c:spPr>
            <a:ln w="6350">
              <a:solidFill>
                <a:srgbClr val="E2E8F0"/>
              </a:solidFill>
            </a:ln>
          </c:spPr>
        </c:majorGridlines>
        <c:numFmt formatCode="0.0" sourceLinked="0"/>
        <c:majorTickMark val="out"/>
        <c:minorTickMark val="none"/>
        <c:tickLblPos val="nextTo"/>
        <c:txPr>
          <a:bodyPr/>
          <a:lstStyle/>
          <a:p>
            <a:pPr>
              <a:defRPr sz="1200">
                <a:latin typeface="Segoe UI"/>
              </a:defRPr>
            </a:pPr>
          </a:p>
        </c:txPr>
        <c:crossAx val="2118791784"/>
        <c:crosses val="autoZero"/>
      </c:valAx>
    </c:plotArea>
    <c:legend>
      <c:legendPos val="b"/>
      <c:layout/>
      <c:overlay val="0"/>
      <c:txPr>
        <a:bodyPr/>
        <a:lstStyle/>
        <a:p>
          <a:pPr>
            <a:defRPr sz="1200">
              <a:latin typeface="Segoe U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re-implemented LLooM on our own synthetic corpus to verify the paper's claims and probe questions the paper left open.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three core claims. Our study targets all three: we replicate the pipeline, measure coverage vs n, and test robustness cases the paper doesn't cover.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pipeline logic — different models and controlled GT. Synthetic corpus with provably correct labels removes labeler noise. We also run 5 independent trials per cell to measure variance.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LLooM-Qwen scales monotonically 0.01 to 0.80 specific coverage. Zero-shot Gemini hits 1.00 but sees the concept taxonomy upfront — unfair comparison. BERTopic keyword clusters can't satisfy the semantic criteria prompt the matcher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never tested robustness to label permutation. F1 collapses from 0.613 to 0.032 on 10 derangements. This confirms the paper's gains are genuine but also shows the method has no fallback when concept space is arbitrary.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 rectangles control confirms our pipeline respects PAC bound thresholds. E3: empirical growth function matches textbook VC values exactly. E4: generalization gap tightens to near-zero by n=80 — 80 documents are sufficient for stable concept criteria.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paper claims confirmed. Four new findings: coverage curve shape, variance collapse, label-robustness collapse, n=80 convergence threshold.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takeaway: LLooM's core claims hold. Our study maps the full sample-complexity curve, shows n~80 as the practical convergence threshold, and reveals that performance collapses completely when semantic priors are broken. These are the concrete additions to the paper's 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421"/>
        </a:solidFill>
        <a:effectLst/>
      </p:bgPr>
    </p:bg>
    <p:spTree>
      <p:nvGrpSpPr>
        <p:cNvPr id="1" name=""/>
        <p:cNvGrpSpPr/>
        <p:nvPr/>
      </p:nvGrpSpPr>
      <p:grpSpPr/>
      <p:sp>
        <p:nvSpPr>
          <p:cNvPr id="2" name="TextBox 1"/>
          <p:cNvSpPr txBox="1"/>
          <p:nvPr/>
        </p:nvSpPr>
        <p:spPr>
          <a:xfrm>
            <a:off x="640080" y="658368"/>
            <a:ext cx="10058400" cy="320040"/>
          </a:xfrm>
          <a:prstGeom prst="rect">
            <a:avLst/>
          </a:prstGeom>
          <a:noFill/>
        </p:spPr>
        <p:txBody>
          <a:bodyPr wrap="square" lIns="0" rIns="0" tIns="0" bIns="0" anchor="t">
            <a:spAutoFit/>
          </a:bodyPr>
          <a:lstStyle/>
          <a:p>
            <a:pPr algn="l"/>
            <a:r>
              <a:rPr sz="1200" b="1" i="0" spc="150">
                <a:solidFill>
                  <a:srgbClr val="5EC8BC"/>
                </a:solidFill>
                <a:latin typeface="Segoe UI"/>
              </a:rPr>
              <a:t>EMPIRICAL RE-IMPLEMENTATION STUDY  |  LLooM  |  Lam et al., CHI 2024</a:t>
            </a:r>
          </a:p>
        </p:txBody>
      </p:sp>
      <p:sp>
        <p:nvSpPr>
          <p:cNvPr id="3" name="TextBox 2"/>
          <p:cNvSpPr txBox="1"/>
          <p:nvPr/>
        </p:nvSpPr>
        <p:spPr>
          <a:xfrm>
            <a:off x="640080" y="1417320"/>
            <a:ext cx="7315200" cy="2011680"/>
          </a:xfrm>
          <a:prstGeom prst="rect">
            <a:avLst/>
          </a:prstGeom>
          <a:noFill/>
        </p:spPr>
        <p:txBody>
          <a:bodyPr wrap="square" lIns="0" rIns="0" tIns="0" bIns="0" anchor="t">
            <a:spAutoFit/>
          </a:bodyPr>
          <a:lstStyle/>
          <a:p>
            <a:pPr algn="l">
              <a:lnSpc>
                <a:spcPct val="102000"/>
              </a:lnSpc>
            </a:pPr>
            <a:r>
              <a:rPr sz="5400" b="1" i="0">
                <a:solidFill>
                  <a:srgbClr val="FFFFFF"/>
                </a:solidFill>
                <a:latin typeface="Segoe UI"/>
              </a:rPr>
              <a:t>Does LLooM
Hold Up?</a:t>
            </a:r>
          </a:p>
        </p:txBody>
      </p:sp>
      <p:sp>
        <p:nvSpPr>
          <p:cNvPr id="4" name="TextBox 3"/>
          <p:cNvSpPr txBox="1"/>
          <p:nvPr/>
        </p:nvSpPr>
        <p:spPr>
          <a:xfrm>
            <a:off x="640080" y="3611880"/>
            <a:ext cx="6858000" cy="502920"/>
          </a:xfrm>
          <a:prstGeom prst="rect">
            <a:avLst/>
          </a:prstGeom>
          <a:noFill/>
        </p:spPr>
        <p:txBody>
          <a:bodyPr wrap="square" lIns="0" rIns="0" tIns="0" bIns="0" anchor="t">
            <a:spAutoFit/>
          </a:bodyPr>
          <a:lstStyle/>
          <a:p>
            <a:pPr algn="l">
              <a:lnSpc>
                <a:spcPct val="120000"/>
              </a:lnSpc>
            </a:pPr>
            <a:r>
              <a:rPr sz="1900" b="0" i="0">
                <a:solidFill>
                  <a:srgbClr val="8FA1B3"/>
                </a:solidFill>
                <a:latin typeface="Segoe UI"/>
              </a:rPr>
              <a:t>Testing concept induction at scale — what the paper claims vs what we measured</a:t>
            </a:r>
          </a:p>
        </p:txBody>
      </p:sp>
      <p:cxnSp>
        <p:nvCxnSpPr>
          <p:cNvPr id="5" name="Connector 4"/>
          <p:cNvCxnSpPr/>
          <p:nvPr/>
        </p:nvCxnSpPr>
        <p:spPr>
          <a:xfrm>
            <a:off x="640080" y="4343400"/>
            <a:ext cx="4754880" cy="0"/>
          </a:xfrm>
          <a:prstGeom prst="line">
            <a:avLst/>
          </a:prstGeom>
          <a:ln w="12700">
            <a:solidFill>
              <a:srgbClr val="2A385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498848"/>
            <a:ext cx="7315200" cy="731520"/>
          </a:xfrm>
          <a:prstGeom prst="rect">
            <a:avLst/>
          </a:prstGeom>
          <a:noFill/>
        </p:spPr>
        <p:txBody>
          <a:bodyPr wrap="square" lIns="0" rIns="0" tIns="0" bIns="0" anchor="t">
            <a:spAutoFit/>
          </a:bodyPr>
          <a:lstStyle/>
          <a:p>
            <a:pPr algn="l">
              <a:lnSpc>
                <a:spcPct val="140000"/>
              </a:lnSpc>
            </a:pPr>
            <a:r>
              <a:rPr sz="1300" b="1" i="0">
                <a:solidFill>
                  <a:srgbClr val="E9EFF4"/>
                </a:solidFill>
                <a:latin typeface="Segoe UI"/>
              </a:rPr>
              <a:t>125 experiment cells  |  5 methods  |  160-doc synthetic corpus
</a:t>
            </a:r>
            <a:r>
              <a:rPr sz="1200" b="0" i="0">
                <a:solidFill>
                  <a:srgbClr val="8FA1B3"/>
                </a:solidFill>
                <a:latin typeface="Consolas"/>
              </a:rPr>
              <a:t>lloom-lab  |  aaryanmax  |  Advanced ML 2026</a:t>
            </a:r>
          </a:p>
        </p:txBody>
      </p:sp>
      <p:sp>
        <p:nvSpPr>
          <p:cNvPr id="7" name="Rounded Rectangle 6"/>
          <p:cNvSpPr/>
          <p:nvPr/>
        </p:nvSpPr>
        <p:spPr>
          <a:xfrm>
            <a:off x="8732520" y="1371600"/>
            <a:ext cx="2880360" cy="1874519"/>
          </a:xfrm>
          <a:prstGeom prst="roundRect">
            <a:avLst>
              <a:gd name="adj" fmla="val 10000"/>
            </a:avLst>
          </a:prstGeom>
          <a:solidFill>
            <a:srgbClr val="18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87968" y="1572768"/>
            <a:ext cx="2560320" cy="320040"/>
          </a:xfrm>
          <a:prstGeom prst="rect">
            <a:avLst/>
          </a:prstGeom>
          <a:noFill/>
        </p:spPr>
        <p:txBody>
          <a:bodyPr wrap="square" lIns="0" rIns="0" tIns="0" bIns="0" anchor="t">
            <a:spAutoFit/>
          </a:bodyPr>
          <a:lstStyle/>
          <a:p>
            <a:pPr algn="l"/>
            <a:r>
              <a:rPr sz="1300" b="1" i="0">
                <a:solidFill>
                  <a:srgbClr val="6B48FF"/>
                </a:solidFill>
                <a:latin typeface="Segoe UI"/>
              </a:rPr>
              <a:t>LLooM Paper</a:t>
            </a:r>
          </a:p>
        </p:txBody>
      </p:sp>
      <p:sp>
        <p:nvSpPr>
          <p:cNvPr id="9" name="TextBox 8"/>
          <p:cNvSpPr txBox="1"/>
          <p:nvPr/>
        </p:nvSpPr>
        <p:spPr>
          <a:xfrm>
            <a:off x="8887968" y="1920240"/>
            <a:ext cx="2560320" cy="548640"/>
          </a:xfrm>
          <a:prstGeom prst="rect">
            <a:avLst/>
          </a:prstGeom>
          <a:noFill/>
        </p:spPr>
        <p:txBody>
          <a:bodyPr wrap="square" lIns="0" rIns="0" tIns="0" bIns="0" anchor="t">
            <a:spAutoFit/>
          </a:bodyPr>
          <a:lstStyle/>
          <a:p>
            <a:pPr algn="l">
              <a:lnSpc>
                <a:spcPct val="115000"/>
              </a:lnSpc>
            </a:pPr>
            <a:r>
              <a:rPr sz="1500" b="1" i="0">
                <a:solidFill>
                  <a:srgbClr val="FFFFFF"/>
                </a:solidFill>
                <a:latin typeface="Segoe UI"/>
              </a:rPr>
              <a:t>+17.9% coverage
vs BERTopic</a:t>
            </a:r>
          </a:p>
        </p:txBody>
      </p:sp>
      <p:sp>
        <p:nvSpPr>
          <p:cNvPr id="10" name="TextBox 9"/>
          <p:cNvSpPr txBox="1"/>
          <p:nvPr/>
        </p:nvSpPr>
        <p:spPr>
          <a:xfrm>
            <a:off x="8887968" y="2542032"/>
            <a:ext cx="2560320" cy="320040"/>
          </a:xfrm>
          <a:prstGeom prst="rect">
            <a:avLst/>
          </a:prstGeom>
          <a:noFill/>
        </p:spPr>
        <p:txBody>
          <a:bodyPr wrap="square" lIns="0" rIns="0" tIns="0" bIns="0" anchor="t">
            <a:spAutoFit/>
          </a:bodyPr>
          <a:lstStyle/>
          <a:p>
            <a:pPr algn="l"/>
            <a:r>
              <a:rPr sz="1100" b="0" i="0">
                <a:solidFill>
                  <a:srgbClr val="8FA1B3"/>
                </a:solidFill>
                <a:latin typeface="Segoe UI"/>
              </a:rPr>
              <a:t>CHI 2024 claim</a:t>
            </a:r>
          </a:p>
        </p:txBody>
      </p:sp>
      <p:sp>
        <p:nvSpPr>
          <p:cNvPr id="11" name="TextBox 10"/>
          <p:cNvSpPr txBox="1"/>
          <p:nvPr/>
        </p:nvSpPr>
        <p:spPr>
          <a:xfrm>
            <a:off x="9189720" y="3493008"/>
            <a:ext cx="1371600" cy="457200"/>
          </a:xfrm>
          <a:prstGeom prst="rect">
            <a:avLst/>
          </a:prstGeom>
          <a:noFill/>
        </p:spPr>
        <p:txBody>
          <a:bodyPr wrap="square" lIns="0" rIns="0" tIns="0" bIns="0" anchor="t">
            <a:spAutoFit/>
          </a:bodyPr>
          <a:lstStyle/>
          <a:p>
            <a:pPr algn="ctr"/>
            <a:r>
              <a:rPr sz="2200" b="1" i="0">
                <a:solidFill>
                  <a:srgbClr val="D97706"/>
                </a:solidFill>
                <a:latin typeface="Segoe UI"/>
              </a:rPr>
              <a:t>vs</a:t>
            </a:r>
          </a:p>
        </p:txBody>
      </p:sp>
      <p:sp>
        <p:nvSpPr>
          <p:cNvPr id="12" name="Rounded Rectangle 11"/>
          <p:cNvSpPr/>
          <p:nvPr/>
        </p:nvSpPr>
        <p:spPr>
          <a:xfrm>
            <a:off x="8732520" y="4041648"/>
            <a:ext cx="2880360" cy="1874519"/>
          </a:xfrm>
          <a:prstGeom prst="roundRect">
            <a:avLst>
              <a:gd name="adj" fmla="val 10000"/>
            </a:avLst>
          </a:prstGeom>
          <a:solidFill>
            <a:srgbClr val="18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7968" y="4251960"/>
            <a:ext cx="2560320" cy="320040"/>
          </a:xfrm>
          <a:prstGeom prst="rect">
            <a:avLst/>
          </a:prstGeom>
          <a:noFill/>
        </p:spPr>
        <p:txBody>
          <a:bodyPr wrap="square" lIns="0" rIns="0" tIns="0" bIns="0" anchor="t">
            <a:spAutoFit/>
          </a:bodyPr>
          <a:lstStyle/>
          <a:p>
            <a:pPr algn="l"/>
            <a:r>
              <a:rPr sz="1300" b="1" i="0">
                <a:solidFill>
                  <a:srgbClr val="D97706"/>
                </a:solidFill>
                <a:latin typeface="Segoe UI"/>
              </a:rPr>
              <a:t>Our Study</a:t>
            </a:r>
          </a:p>
        </p:txBody>
      </p:sp>
      <p:sp>
        <p:nvSpPr>
          <p:cNvPr id="14" name="TextBox 13"/>
          <p:cNvSpPr txBox="1"/>
          <p:nvPr/>
        </p:nvSpPr>
        <p:spPr>
          <a:xfrm>
            <a:off x="8887968" y="4590288"/>
            <a:ext cx="2560320" cy="594360"/>
          </a:xfrm>
          <a:prstGeom prst="rect">
            <a:avLst/>
          </a:prstGeom>
          <a:noFill/>
        </p:spPr>
        <p:txBody>
          <a:bodyPr wrap="square" lIns="0" rIns="0" tIns="0" bIns="0" anchor="t">
            <a:spAutoFit/>
          </a:bodyPr>
          <a:lstStyle/>
          <a:p>
            <a:pPr algn="l">
              <a:lnSpc>
                <a:spcPct val="115000"/>
              </a:lnSpc>
            </a:pPr>
            <a:r>
              <a:rPr sz="1500" b="1" i="0">
                <a:solidFill>
                  <a:srgbClr val="FFFFFF"/>
                </a:solidFill>
                <a:latin typeface="Segoe UI"/>
              </a:rPr>
              <a:t>0.80 specific
coverage @ n=160</a:t>
            </a:r>
          </a:p>
        </p:txBody>
      </p:sp>
      <p:sp>
        <p:nvSpPr>
          <p:cNvPr id="15" name="TextBox 14"/>
          <p:cNvSpPr txBox="1"/>
          <p:nvPr/>
        </p:nvSpPr>
        <p:spPr>
          <a:xfrm>
            <a:off x="8887968" y="5257800"/>
            <a:ext cx="2560320" cy="320040"/>
          </a:xfrm>
          <a:prstGeom prst="rect">
            <a:avLst/>
          </a:prstGeom>
          <a:noFill/>
        </p:spPr>
        <p:txBody>
          <a:bodyPr wrap="square" lIns="0" rIns="0" tIns="0" bIns="0" anchor="t">
            <a:spAutoFit/>
          </a:bodyPr>
          <a:lstStyle/>
          <a:p>
            <a:pPr algn="l"/>
            <a:r>
              <a:rPr sz="1100" b="0" i="0">
                <a:solidFill>
                  <a:srgbClr val="8FA1B3"/>
                </a:solidFill>
                <a:latin typeface="Segoe UI"/>
              </a:rPr>
              <a:t>E1 headline, 5 trials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2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What the paper claims</a:t>
            </a:r>
          </a:p>
        </p:txBody>
      </p:sp>
      <p:sp>
        <p:nvSpPr>
          <p:cNvPr id="4" name="TextBox 3"/>
          <p:cNvSpPr txBox="1"/>
          <p:nvPr/>
        </p:nvSpPr>
        <p:spPr>
          <a:xfrm>
            <a:off x="640080" y="1060704"/>
            <a:ext cx="10972800" cy="329184"/>
          </a:xfrm>
          <a:prstGeom prst="rect">
            <a:avLst/>
          </a:prstGeom>
          <a:noFill/>
        </p:spPr>
        <p:txBody>
          <a:bodyPr wrap="square" lIns="0" rIns="0" tIns="0" bIns="0" anchor="t">
            <a:spAutoFit/>
          </a:bodyPr>
          <a:lstStyle/>
          <a:p>
            <a:pPr algn="l"/>
            <a:r>
              <a:rPr sz="1400" b="0" i="0">
                <a:solidFill>
                  <a:srgbClr val="5B6B7B"/>
                </a:solidFill>
                <a:latin typeface="Segoe UI"/>
              </a:rPr>
              <a:t>Lam et al., CHI 2024 — three headline findings we set out to probe.</a:t>
            </a:r>
          </a:p>
        </p:txBody>
      </p:sp>
      <p:sp>
        <p:nvSpPr>
          <p:cNvPr id="5" name="Rounded Rectangle 4"/>
          <p:cNvSpPr/>
          <p:nvPr/>
        </p:nvSpPr>
        <p:spPr>
          <a:xfrm>
            <a:off x="640080" y="1600200"/>
            <a:ext cx="3566160" cy="2834640"/>
          </a:xfrm>
          <a:prstGeom prst="roundRect">
            <a:avLst>
              <a:gd name="adj" fmla="val 10000"/>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1755648"/>
            <a:ext cx="3246120" cy="777240"/>
          </a:xfrm>
          <a:prstGeom prst="rect">
            <a:avLst/>
          </a:prstGeom>
          <a:noFill/>
        </p:spPr>
        <p:txBody>
          <a:bodyPr wrap="square" lIns="0" rIns="0" tIns="0" bIns="0" anchor="t">
            <a:spAutoFit/>
          </a:bodyPr>
          <a:lstStyle/>
          <a:p>
            <a:pPr algn="l"/>
            <a:r>
              <a:rPr sz="3800" b="1" i="0">
                <a:solidFill>
                  <a:srgbClr val="6B48FF"/>
                </a:solidFill>
                <a:latin typeface="Segoe UI"/>
              </a:rPr>
              <a:t>+17.9%</a:t>
            </a:r>
          </a:p>
        </p:txBody>
      </p:sp>
      <p:sp>
        <p:nvSpPr>
          <p:cNvPr id="7" name="TextBox 6"/>
          <p:cNvSpPr txBox="1"/>
          <p:nvPr/>
        </p:nvSpPr>
        <p:spPr>
          <a:xfrm>
            <a:off x="804671" y="2578608"/>
            <a:ext cx="3246120" cy="365760"/>
          </a:xfrm>
          <a:prstGeom prst="rect">
            <a:avLst/>
          </a:prstGeom>
          <a:noFill/>
        </p:spPr>
        <p:txBody>
          <a:bodyPr wrap="square" lIns="0" rIns="0" tIns="0" bIns="0" anchor="t">
            <a:spAutoFit/>
          </a:bodyPr>
          <a:lstStyle/>
          <a:p>
            <a:pPr algn="l"/>
            <a:r>
              <a:rPr sz="1500" b="1" i="0">
                <a:solidFill>
                  <a:srgbClr val="15202B"/>
                </a:solidFill>
                <a:latin typeface="Segoe UI"/>
              </a:rPr>
              <a:t>Coverage over BERTopic</a:t>
            </a:r>
          </a:p>
        </p:txBody>
      </p:sp>
      <p:sp>
        <p:nvSpPr>
          <p:cNvPr id="8" name="TextBox 7"/>
          <p:cNvSpPr txBox="1"/>
          <p:nvPr/>
        </p:nvSpPr>
        <p:spPr>
          <a:xfrm>
            <a:off x="804671" y="2999232"/>
            <a:ext cx="3246120" cy="1188720"/>
          </a:xfrm>
          <a:prstGeom prst="rect">
            <a:avLst/>
          </a:prstGeom>
          <a:noFill/>
        </p:spPr>
        <p:txBody>
          <a:bodyPr wrap="square" lIns="0" rIns="0" tIns="0" bIns="0" anchor="t">
            <a:spAutoFit/>
          </a:bodyPr>
          <a:lstStyle/>
          <a:p>
            <a:pPr algn="l">
              <a:lnSpc>
                <a:spcPct val="120000"/>
              </a:lnSpc>
            </a:pPr>
            <a:r>
              <a:rPr sz="1300" b="0" i="0">
                <a:solidFill>
                  <a:srgbClr val="5B6B7B"/>
                </a:solidFill>
                <a:latin typeface="Segoe UI"/>
              </a:rPr>
              <a:t>On Congressional bills (n=200). Specific concept coverage metric.</a:t>
            </a:r>
          </a:p>
        </p:txBody>
      </p:sp>
      <p:sp>
        <p:nvSpPr>
          <p:cNvPr id="9" name="Rounded Rectangle 8"/>
          <p:cNvSpPr/>
          <p:nvPr/>
        </p:nvSpPr>
        <p:spPr>
          <a:xfrm>
            <a:off x="4462272" y="1600200"/>
            <a:ext cx="3566160" cy="2834640"/>
          </a:xfrm>
          <a:prstGeom prst="roundRect">
            <a:avLst>
              <a:gd name="adj" fmla="val 10000"/>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1755648"/>
            <a:ext cx="3246120" cy="777240"/>
          </a:xfrm>
          <a:prstGeom prst="rect">
            <a:avLst/>
          </a:prstGeom>
          <a:noFill/>
        </p:spPr>
        <p:txBody>
          <a:bodyPr wrap="square" lIns="0" rIns="0" tIns="0" bIns="0" anchor="t">
            <a:spAutoFit/>
          </a:bodyPr>
          <a:lstStyle/>
          <a:p>
            <a:pPr algn="l"/>
            <a:r>
              <a:rPr sz="3800" b="1" i="0">
                <a:solidFill>
                  <a:srgbClr val="6B48FF"/>
                </a:solidFill>
                <a:latin typeface="Segoe UI"/>
              </a:rPr>
              <a:t>+16.0%</a:t>
            </a:r>
          </a:p>
        </p:txBody>
      </p:sp>
      <p:sp>
        <p:nvSpPr>
          <p:cNvPr id="11" name="TextBox 10"/>
          <p:cNvSpPr txBox="1"/>
          <p:nvPr/>
        </p:nvSpPr>
        <p:spPr>
          <a:xfrm>
            <a:off x="4626864" y="2578608"/>
            <a:ext cx="3246120" cy="365760"/>
          </a:xfrm>
          <a:prstGeom prst="rect">
            <a:avLst/>
          </a:prstGeom>
          <a:noFill/>
        </p:spPr>
        <p:txBody>
          <a:bodyPr wrap="square" lIns="0" rIns="0" tIns="0" bIns="0" anchor="t">
            <a:spAutoFit/>
          </a:bodyPr>
          <a:lstStyle/>
          <a:p>
            <a:pPr algn="l"/>
            <a:r>
              <a:rPr sz="1500" b="1" i="0">
                <a:solidFill>
                  <a:srgbClr val="15202B"/>
                </a:solidFill>
                <a:latin typeface="Segoe UI"/>
              </a:rPr>
              <a:t>Specific over Generic</a:t>
            </a:r>
          </a:p>
        </p:txBody>
      </p:sp>
      <p:sp>
        <p:nvSpPr>
          <p:cNvPr id="12" name="TextBox 11"/>
          <p:cNvSpPr txBox="1"/>
          <p:nvPr/>
        </p:nvSpPr>
        <p:spPr>
          <a:xfrm>
            <a:off x="4626864" y="2999232"/>
            <a:ext cx="3246120" cy="1188720"/>
          </a:xfrm>
          <a:prstGeom prst="rect">
            <a:avLst/>
          </a:prstGeom>
          <a:noFill/>
        </p:spPr>
        <p:txBody>
          <a:bodyPr wrap="square" lIns="0" rIns="0" tIns="0" bIns="0" anchor="t">
            <a:spAutoFit/>
          </a:bodyPr>
          <a:lstStyle/>
          <a:p>
            <a:pPr algn="l">
              <a:lnSpc>
                <a:spcPct val="120000"/>
              </a:lnSpc>
            </a:pPr>
            <a:r>
              <a:rPr sz="1300" b="0" i="0">
                <a:solidFill>
                  <a:srgbClr val="5B6B7B"/>
                </a:solidFill>
                <a:latin typeface="Segoe UI"/>
              </a:rPr>
              <a:t>On synthetic data (p &lt; .0001). Nuanced criteria outperform broad categories.</a:t>
            </a:r>
          </a:p>
        </p:txBody>
      </p:sp>
      <p:sp>
        <p:nvSpPr>
          <p:cNvPr id="13" name="Rounded Rectangle 12"/>
          <p:cNvSpPr/>
          <p:nvPr/>
        </p:nvSpPr>
        <p:spPr>
          <a:xfrm>
            <a:off x="8284463" y="1600200"/>
            <a:ext cx="3566160" cy="2834640"/>
          </a:xfrm>
          <a:prstGeom prst="roundRect">
            <a:avLst>
              <a:gd name="adj" fmla="val 10000"/>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9055" y="1755648"/>
            <a:ext cx="3246120" cy="777240"/>
          </a:xfrm>
          <a:prstGeom prst="rect">
            <a:avLst/>
          </a:prstGeom>
          <a:noFill/>
        </p:spPr>
        <p:txBody>
          <a:bodyPr wrap="square" lIns="0" rIns="0" tIns="0" bIns="0" anchor="t">
            <a:spAutoFit/>
          </a:bodyPr>
          <a:lstStyle/>
          <a:p>
            <a:pPr algn="l"/>
            <a:r>
              <a:rPr sz="3800" b="1" i="0">
                <a:solidFill>
                  <a:srgbClr val="6B48FF"/>
                </a:solidFill>
                <a:latin typeface="Segoe UI"/>
              </a:rPr>
              <a:t>k = 0.63</a:t>
            </a:r>
          </a:p>
        </p:txBody>
      </p:sp>
      <p:sp>
        <p:nvSpPr>
          <p:cNvPr id="15" name="TextBox 14"/>
          <p:cNvSpPr txBox="1"/>
          <p:nvPr/>
        </p:nvSpPr>
        <p:spPr>
          <a:xfrm>
            <a:off x="8449055" y="2578608"/>
            <a:ext cx="3246120" cy="365760"/>
          </a:xfrm>
          <a:prstGeom prst="rect">
            <a:avLst/>
          </a:prstGeom>
          <a:noFill/>
        </p:spPr>
        <p:txBody>
          <a:bodyPr wrap="square" lIns="0" rIns="0" tIns="0" bIns="0" anchor="t">
            <a:spAutoFit/>
          </a:bodyPr>
          <a:lstStyle/>
          <a:p>
            <a:pPr algn="l"/>
            <a:r>
              <a:rPr sz="1500" b="1" i="0">
                <a:solidFill>
                  <a:srgbClr val="15202B"/>
                </a:solidFill>
                <a:latin typeface="Segoe UI"/>
              </a:rPr>
              <a:t>Scorer reliability</a:t>
            </a:r>
          </a:p>
        </p:txBody>
      </p:sp>
      <p:sp>
        <p:nvSpPr>
          <p:cNvPr id="16" name="TextBox 15"/>
          <p:cNvSpPr txBox="1"/>
          <p:nvPr/>
        </p:nvSpPr>
        <p:spPr>
          <a:xfrm>
            <a:off x="8449055" y="2999232"/>
            <a:ext cx="3246120" cy="1188720"/>
          </a:xfrm>
          <a:prstGeom prst="rect">
            <a:avLst/>
          </a:prstGeom>
          <a:noFill/>
        </p:spPr>
        <p:txBody>
          <a:bodyPr wrap="square" lIns="0" rIns="0" tIns="0" bIns="0" anchor="t">
            <a:spAutoFit/>
          </a:bodyPr>
          <a:lstStyle/>
          <a:p>
            <a:pPr algn="l">
              <a:lnSpc>
                <a:spcPct val="120000"/>
              </a:lnSpc>
            </a:pPr>
            <a:r>
              <a:rPr sz="1300" b="0" i="0">
                <a:solidFill>
                  <a:srgbClr val="5B6B7B"/>
                </a:solidFill>
                <a:latin typeface="Segoe UI"/>
              </a:rPr>
              <a:t>Cohen's k on held-out examples — on par with human-human agreement (k=0.64).</a:t>
            </a:r>
          </a:p>
        </p:txBody>
      </p:sp>
      <p:sp>
        <p:nvSpPr>
          <p:cNvPr id="17" name="Rectangle 16"/>
          <p:cNvSpPr/>
          <p:nvPr/>
        </p:nvSpPr>
        <p:spPr>
          <a:xfrm>
            <a:off x="0" y="4892040"/>
            <a:ext cx="12191695" cy="1481328"/>
          </a:xfrm>
          <a:prstGeom prst="rect">
            <a:avLst/>
          </a:prstGeom>
          <a:solidFill>
            <a:srgbClr val="0D14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102352"/>
            <a:ext cx="10972800" cy="292608"/>
          </a:xfrm>
          <a:prstGeom prst="rect">
            <a:avLst/>
          </a:prstGeom>
          <a:noFill/>
        </p:spPr>
        <p:txBody>
          <a:bodyPr wrap="square" lIns="0" rIns="0" tIns="0" bIns="0" anchor="t">
            <a:spAutoFit/>
          </a:bodyPr>
          <a:lstStyle/>
          <a:p>
            <a:pPr algn="l"/>
            <a:r>
              <a:rPr sz="1100" b="1" i="0" spc="200">
                <a:solidFill>
                  <a:srgbClr val="5EC8BC"/>
                </a:solidFill>
                <a:latin typeface="Segoe UI"/>
              </a:rPr>
              <a:t>THE QUESTION WE ASKED</a:t>
            </a:r>
          </a:p>
        </p:txBody>
      </p:sp>
      <p:sp>
        <p:nvSpPr>
          <p:cNvPr id="19" name="TextBox 18"/>
          <p:cNvSpPr txBox="1"/>
          <p:nvPr/>
        </p:nvSpPr>
        <p:spPr>
          <a:xfrm>
            <a:off x="640080" y="5413248"/>
            <a:ext cx="10972800" cy="777240"/>
          </a:xfrm>
          <a:prstGeom prst="rect">
            <a:avLst/>
          </a:prstGeom>
          <a:noFill/>
        </p:spPr>
        <p:txBody>
          <a:bodyPr wrap="square" lIns="0" rIns="0" tIns="0" bIns="0" anchor="t">
            <a:spAutoFit/>
          </a:bodyPr>
          <a:lstStyle/>
          <a:p>
            <a:pPr algn="l">
              <a:lnSpc>
                <a:spcPct val="110000"/>
              </a:lnSpc>
            </a:pPr>
            <a:r>
              <a:rPr sz="2100" b="1" i="0">
                <a:solidFill>
                  <a:srgbClr val="FFFFFF"/>
                </a:solidFill>
                <a:latin typeface="Segoe UI"/>
              </a:rPr>
              <a:t>Do these gains hold under controlled conditions — and how many documents does it actually take?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3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Our setup — faithful but different</a:t>
            </a:r>
          </a:p>
        </p:txBody>
      </p:sp>
      <p:sp>
        <p:nvSpPr>
          <p:cNvPr id="4" name="TextBox 3"/>
          <p:cNvSpPr txBox="1"/>
          <p:nvPr/>
        </p:nvSpPr>
        <p:spPr>
          <a:xfrm>
            <a:off x="640080" y="1060704"/>
            <a:ext cx="10972800" cy="329184"/>
          </a:xfrm>
          <a:prstGeom prst="rect">
            <a:avLst/>
          </a:prstGeom>
          <a:noFill/>
        </p:spPr>
        <p:txBody>
          <a:bodyPr wrap="square" lIns="0" rIns="0" tIns="0" bIns="0" anchor="t">
            <a:spAutoFit/>
          </a:bodyPr>
          <a:lstStyle/>
          <a:p>
            <a:pPr algn="l"/>
            <a:r>
              <a:rPr sz="1400" b="0" i="0">
                <a:solidFill>
                  <a:srgbClr val="5B6B7B"/>
                </a:solidFill>
                <a:latin typeface="Segoe UI"/>
              </a:rPr>
              <a:t>Same pipeline logic, different models, controlled ground truth.</a:t>
            </a:r>
          </a:p>
        </p:txBody>
      </p:sp>
      <p:sp>
        <p:nvSpPr>
          <p:cNvPr id="5" name="TextBox 4"/>
          <p:cNvSpPr txBox="1"/>
          <p:nvPr/>
        </p:nvSpPr>
        <p:spPr>
          <a:xfrm>
            <a:off x="640080" y="1572768"/>
            <a:ext cx="5029200" cy="384048"/>
          </a:xfrm>
          <a:prstGeom prst="rect">
            <a:avLst/>
          </a:prstGeom>
          <a:noFill/>
        </p:spPr>
        <p:txBody>
          <a:bodyPr wrap="square" lIns="0" rIns="0" tIns="0" bIns="0" anchor="t">
            <a:spAutoFit/>
          </a:bodyPr>
          <a:lstStyle/>
          <a:p>
            <a:pPr algn="l"/>
            <a:r>
              <a:rPr sz="1600" b="1" i="0">
                <a:solidFill>
                  <a:srgbClr val="6B48FF"/>
                </a:solidFill>
                <a:latin typeface="Segoe UI"/>
              </a:rPr>
              <a:t>Paper (Lam et al.)</a:t>
            </a:r>
          </a:p>
        </p:txBody>
      </p:sp>
      <p:sp>
        <p:nvSpPr>
          <p:cNvPr id="6" name="TextBox 5"/>
          <p:cNvSpPr txBox="1"/>
          <p:nvPr/>
        </p:nvSpPr>
        <p:spPr>
          <a:xfrm>
            <a:off x="640080" y="2029968"/>
            <a:ext cx="1645920" cy="347472"/>
          </a:xfrm>
          <a:prstGeom prst="rect">
            <a:avLst/>
          </a:prstGeom>
          <a:noFill/>
        </p:spPr>
        <p:txBody>
          <a:bodyPr wrap="square" lIns="0" rIns="0" tIns="0" bIns="0" anchor="t">
            <a:spAutoFit/>
          </a:bodyPr>
          <a:lstStyle/>
          <a:p>
            <a:pPr algn="l"/>
            <a:r>
              <a:rPr sz="1300" b="1" i="0">
                <a:solidFill>
                  <a:srgbClr val="15202B"/>
                </a:solidFill>
                <a:latin typeface="Segoe UI"/>
              </a:rPr>
              <a:t>Dataset</a:t>
            </a:r>
          </a:p>
        </p:txBody>
      </p:sp>
      <p:sp>
        <p:nvSpPr>
          <p:cNvPr id="7" name="TextBox 6"/>
          <p:cNvSpPr txBox="1"/>
          <p:nvPr/>
        </p:nvSpPr>
        <p:spPr>
          <a:xfrm>
            <a:off x="2331720" y="2029968"/>
            <a:ext cx="3383280" cy="347472"/>
          </a:xfrm>
          <a:prstGeom prst="rect">
            <a:avLst/>
          </a:prstGeom>
          <a:noFill/>
        </p:spPr>
        <p:txBody>
          <a:bodyPr wrap="square" lIns="0" rIns="0" tIns="0" bIns="0" anchor="t">
            <a:spAutoFit/>
          </a:bodyPr>
          <a:lstStyle/>
          <a:p>
            <a:pPr algn="l"/>
            <a:r>
              <a:rPr sz="1300" b="0" i="0">
                <a:solidFill>
                  <a:srgbClr val="5B6B7B"/>
                </a:solidFill>
                <a:latin typeface="Segoe UI"/>
              </a:rPr>
              <a:t>Congressional bills + misogyny tweets (real-world)</a:t>
            </a:r>
          </a:p>
        </p:txBody>
      </p:sp>
      <p:cxnSp>
        <p:nvCxnSpPr>
          <p:cNvPr id="8" name="Connector 7"/>
          <p:cNvCxnSpPr/>
          <p:nvPr/>
        </p:nvCxnSpPr>
        <p:spPr>
          <a:xfrm>
            <a:off x="640080" y="2414016"/>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468880"/>
            <a:ext cx="1645920" cy="347472"/>
          </a:xfrm>
          <a:prstGeom prst="rect">
            <a:avLst/>
          </a:prstGeom>
          <a:noFill/>
        </p:spPr>
        <p:txBody>
          <a:bodyPr wrap="square" lIns="0" rIns="0" tIns="0" bIns="0" anchor="t">
            <a:spAutoFit/>
          </a:bodyPr>
          <a:lstStyle/>
          <a:p>
            <a:pPr algn="l"/>
            <a:r>
              <a:rPr sz="1300" b="1" i="0">
                <a:solidFill>
                  <a:srgbClr val="15202B"/>
                </a:solidFill>
                <a:latin typeface="Segoe UI"/>
              </a:rPr>
              <a:t>Distill</a:t>
            </a:r>
          </a:p>
        </p:txBody>
      </p:sp>
      <p:sp>
        <p:nvSpPr>
          <p:cNvPr id="10" name="TextBox 9"/>
          <p:cNvSpPr txBox="1"/>
          <p:nvPr/>
        </p:nvSpPr>
        <p:spPr>
          <a:xfrm>
            <a:off x="2331720" y="2468880"/>
            <a:ext cx="3383280" cy="347472"/>
          </a:xfrm>
          <a:prstGeom prst="rect">
            <a:avLst/>
          </a:prstGeom>
          <a:noFill/>
        </p:spPr>
        <p:txBody>
          <a:bodyPr wrap="square" lIns="0" rIns="0" tIns="0" bIns="0" anchor="t">
            <a:spAutoFit/>
          </a:bodyPr>
          <a:lstStyle/>
          <a:p>
            <a:pPr algn="l"/>
            <a:r>
              <a:rPr sz="1300" b="0" i="0">
                <a:solidFill>
                  <a:srgbClr val="5B6B7B"/>
                </a:solidFill>
                <a:latin typeface="Segoe UI"/>
              </a:rPr>
              <a:t>GPT-4 / GPT-3.5</a:t>
            </a:r>
          </a:p>
        </p:txBody>
      </p:sp>
      <p:cxnSp>
        <p:nvCxnSpPr>
          <p:cNvPr id="11" name="Connector 10"/>
          <p:cNvCxnSpPr/>
          <p:nvPr/>
        </p:nvCxnSpPr>
        <p:spPr>
          <a:xfrm>
            <a:off x="640080" y="2852928"/>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907792"/>
            <a:ext cx="1645920" cy="347472"/>
          </a:xfrm>
          <a:prstGeom prst="rect">
            <a:avLst/>
          </a:prstGeom>
          <a:noFill/>
        </p:spPr>
        <p:txBody>
          <a:bodyPr wrap="square" lIns="0" rIns="0" tIns="0" bIns="0" anchor="t">
            <a:spAutoFit/>
          </a:bodyPr>
          <a:lstStyle/>
          <a:p>
            <a:pPr algn="l"/>
            <a:r>
              <a:rPr sz="1300" b="1" i="0">
                <a:solidFill>
                  <a:srgbClr val="15202B"/>
                </a:solidFill>
                <a:latin typeface="Segoe UI"/>
              </a:rPr>
              <a:t>Embed</a:t>
            </a:r>
          </a:p>
        </p:txBody>
      </p:sp>
      <p:sp>
        <p:nvSpPr>
          <p:cNvPr id="13" name="TextBox 12"/>
          <p:cNvSpPr txBox="1"/>
          <p:nvPr/>
        </p:nvSpPr>
        <p:spPr>
          <a:xfrm>
            <a:off x="2331720" y="2907792"/>
            <a:ext cx="3383280" cy="347472"/>
          </a:xfrm>
          <a:prstGeom prst="rect">
            <a:avLst/>
          </a:prstGeom>
          <a:noFill/>
        </p:spPr>
        <p:txBody>
          <a:bodyPr wrap="square" lIns="0" rIns="0" tIns="0" bIns="0" anchor="t">
            <a:spAutoFit/>
          </a:bodyPr>
          <a:lstStyle/>
          <a:p>
            <a:pPr algn="l"/>
            <a:r>
              <a:rPr sz="1300" b="0" i="0">
                <a:solidFill>
                  <a:srgbClr val="5B6B7B"/>
                </a:solidFill>
                <a:latin typeface="Segoe UI"/>
              </a:rPr>
              <a:t>OpenAI ada-002</a:t>
            </a:r>
          </a:p>
        </p:txBody>
      </p:sp>
      <p:cxnSp>
        <p:nvCxnSpPr>
          <p:cNvPr id="14" name="Connector 13"/>
          <p:cNvCxnSpPr/>
          <p:nvPr/>
        </p:nvCxnSpPr>
        <p:spPr>
          <a:xfrm>
            <a:off x="640080" y="3291840"/>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3346704"/>
            <a:ext cx="1645920" cy="347472"/>
          </a:xfrm>
          <a:prstGeom prst="rect">
            <a:avLst/>
          </a:prstGeom>
          <a:noFill/>
        </p:spPr>
        <p:txBody>
          <a:bodyPr wrap="square" lIns="0" rIns="0" tIns="0" bIns="0" anchor="t">
            <a:spAutoFit/>
          </a:bodyPr>
          <a:lstStyle/>
          <a:p>
            <a:pPr algn="l"/>
            <a:r>
              <a:rPr sz="1300" b="1" i="0">
                <a:solidFill>
                  <a:srgbClr val="15202B"/>
                </a:solidFill>
                <a:latin typeface="Segoe UI"/>
              </a:rPr>
              <a:t>Synthesize</a:t>
            </a:r>
          </a:p>
        </p:txBody>
      </p:sp>
      <p:sp>
        <p:nvSpPr>
          <p:cNvPr id="16" name="TextBox 15"/>
          <p:cNvSpPr txBox="1"/>
          <p:nvPr/>
        </p:nvSpPr>
        <p:spPr>
          <a:xfrm>
            <a:off x="2331720" y="3346704"/>
            <a:ext cx="3383280" cy="347472"/>
          </a:xfrm>
          <a:prstGeom prst="rect">
            <a:avLst/>
          </a:prstGeom>
          <a:noFill/>
        </p:spPr>
        <p:txBody>
          <a:bodyPr wrap="square" lIns="0" rIns="0" tIns="0" bIns="0" anchor="t">
            <a:spAutoFit/>
          </a:bodyPr>
          <a:lstStyle/>
          <a:p>
            <a:pPr algn="l"/>
            <a:r>
              <a:rPr sz="1300" b="0" i="0">
                <a:solidFill>
                  <a:srgbClr val="5B6B7B"/>
                </a:solidFill>
                <a:latin typeface="Segoe UI"/>
              </a:rPr>
              <a:t>GPT-4</a:t>
            </a:r>
          </a:p>
        </p:txBody>
      </p:sp>
      <p:cxnSp>
        <p:nvCxnSpPr>
          <p:cNvPr id="17" name="Connector 16"/>
          <p:cNvCxnSpPr/>
          <p:nvPr/>
        </p:nvCxnSpPr>
        <p:spPr>
          <a:xfrm>
            <a:off x="640080" y="3730752"/>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3785616"/>
            <a:ext cx="1645920" cy="347472"/>
          </a:xfrm>
          <a:prstGeom prst="rect">
            <a:avLst/>
          </a:prstGeom>
          <a:noFill/>
        </p:spPr>
        <p:txBody>
          <a:bodyPr wrap="square" lIns="0" rIns="0" tIns="0" bIns="0" anchor="t">
            <a:spAutoFit/>
          </a:bodyPr>
          <a:lstStyle/>
          <a:p>
            <a:pPr algn="l"/>
            <a:r>
              <a:rPr sz="1300" b="1" i="0">
                <a:solidFill>
                  <a:srgbClr val="15202B"/>
                </a:solidFill>
                <a:latin typeface="Segoe UI"/>
              </a:rPr>
              <a:t>Score</a:t>
            </a:r>
          </a:p>
        </p:txBody>
      </p:sp>
      <p:sp>
        <p:nvSpPr>
          <p:cNvPr id="19" name="TextBox 18"/>
          <p:cNvSpPr txBox="1"/>
          <p:nvPr/>
        </p:nvSpPr>
        <p:spPr>
          <a:xfrm>
            <a:off x="2331720" y="3785616"/>
            <a:ext cx="3383280" cy="347472"/>
          </a:xfrm>
          <a:prstGeom prst="rect">
            <a:avLst/>
          </a:prstGeom>
          <a:noFill/>
        </p:spPr>
        <p:txBody>
          <a:bodyPr wrap="square" lIns="0" rIns="0" tIns="0" bIns="0" anchor="t">
            <a:spAutoFit/>
          </a:bodyPr>
          <a:lstStyle/>
          <a:p>
            <a:pPr algn="l"/>
            <a:r>
              <a:rPr sz="1300" b="0" i="0">
                <a:solidFill>
                  <a:srgbClr val="5B6B7B"/>
                </a:solidFill>
                <a:latin typeface="Segoe UI"/>
              </a:rPr>
              <a:t>GPT-3.5 zero-shot, A-E scale</a:t>
            </a:r>
          </a:p>
        </p:txBody>
      </p:sp>
      <p:cxnSp>
        <p:nvCxnSpPr>
          <p:cNvPr id="20" name="Connector 19"/>
          <p:cNvCxnSpPr/>
          <p:nvPr/>
        </p:nvCxnSpPr>
        <p:spPr>
          <a:xfrm>
            <a:off x="640080" y="4169664"/>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4224528"/>
            <a:ext cx="1645920" cy="347472"/>
          </a:xfrm>
          <a:prstGeom prst="rect">
            <a:avLst/>
          </a:prstGeom>
          <a:noFill/>
        </p:spPr>
        <p:txBody>
          <a:bodyPr wrap="square" lIns="0" rIns="0" tIns="0" bIns="0" anchor="t">
            <a:spAutoFit/>
          </a:bodyPr>
          <a:lstStyle/>
          <a:p>
            <a:pPr algn="l"/>
            <a:r>
              <a:rPr sz="1300" b="1" i="0">
                <a:solidFill>
                  <a:srgbClr val="15202B"/>
                </a:solidFill>
                <a:latin typeface="Segoe UI"/>
              </a:rPr>
              <a:t>GT labels</a:t>
            </a:r>
          </a:p>
        </p:txBody>
      </p:sp>
      <p:sp>
        <p:nvSpPr>
          <p:cNvPr id="22" name="TextBox 21"/>
          <p:cNvSpPr txBox="1"/>
          <p:nvPr/>
        </p:nvSpPr>
        <p:spPr>
          <a:xfrm>
            <a:off x="2331720" y="4224528"/>
            <a:ext cx="3383280" cy="347472"/>
          </a:xfrm>
          <a:prstGeom prst="rect">
            <a:avLst/>
          </a:prstGeom>
          <a:noFill/>
        </p:spPr>
        <p:txBody>
          <a:bodyPr wrap="square" lIns="0" rIns="0" tIns="0" bIns="0" anchor="t">
            <a:spAutoFit/>
          </a:bodyPr>
          <a:lstStyle/>
          <a:p>
            <a:pPr algn="l"/>
            <a:r>
              <a:rPr sz="1300" b="0" i="0">
                <a:solidFill>
                  <a:srgbClr val="5B6B7B"/>
                </a:solidFill>
                <a:latin typeface="Segoe UI"/>
              </a:rPr>
              <a:t>Human annotators (manual)</a:t>
            </a:r>
          </a:p>
        </p:txBody>
      </p:sp>
      <p:cxnSp>
        <p:nvCxnSpPr>
          <p:cNvPr id="23" name="Connector 22"/>
          <p:cNvCxnSpPr/>
          <p:nvPr/>
        </p:nvCxnSpPr>
        <p:spPr>
          <a:xfrm>
            <a:off x="640080" y="4608576"/>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4663440"/>
            <a:ext cx="1645920" cy="347472"/>
          </a:xfrm>
          <a:prstGeom prst="rect">
            <a:avLst/>
          </a:prstGeom>
          <a:noFill/>
        </p:spPr>
        <p:txBody>
          <a:bodyPr wrap="square" lIns="0" rIns="0" tIns="0" bIns="0" anchor="t">
            <a:spAutoFit/>
          </a:bodyPr>
          <a:lstStyle/>
          <a:p>
            <a:pPr algn="l"/>
            <a:r>
              <a:rPr sz="1300" b="1" i="0">
                <a:solidFill>
                  <a:srgbClr val="15202B"/>
                </a:solidFill>
                <a:latin typeface="Segoe UI"/>
              </a:rPr>
              <a:t>Cost</a:t>
            </a:r>
          </a:p>
        </p:txBody>
      </p:sp>
      <p:sp>
        <p:nvSpPr>
          <p:cNvPr id="25" name="TextBox 24"/>
          <p:cNvSpPr txBox="1"/>
          <p:nvPr/>
        </p:nvSpPr>
        <p:spPr>
          <a:xfrm>
            <a:off x="2331720" y="4663440"/>
            <a:ext cx="3383280" cy="347472"/>
          </a:xfrm>
          <a:prstGeom prst="rect">
            <a:avLst/>
          </a:prstGeom>
          <a:noFill/>
        </p:spPr>
        <p:txBody>
          <a:bodyPr wrap="square" lIns="0" rIns="0" tIns="0" bIns="0" anchor="t">
            <a:spAutoFit/>
          </a:bodyPr>
          <a:lstStyle/>
          <a:p>
            <a:pPr algn="l"/>
            <a:r>
              <a:rPr sz="1300" b="0" i="0">
                <a:solidFill>
                  <a:srgbClr val="5B6B7B"/>
                </a:solidFill>
                <a:latin typeface="Segoe UI"/>
              </a:rPr>
              <a:t>~$1.44 per run</a:t>
            </a:r>
          </a:p>
        </p:txBody>
      </p:sp>
      <p:cxnSp>
        <p:nvCxnSpPr>
          <p:cNvPr id="26" name="Connector 25"/>
          <p:cNvCxnSpPr/>
          <p:nvPr/>
        </p:nvCxnSpPr>
        <p:spPr>
          <a:xfrm>
            <a:off x="640080" y="5047488"/>
            <a:ext cx="50292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675120" y="1572768"/>
            <a:ext cx="5029200" cy="384048"/>
          </a:xfrm>
          <a:prstGeom prst="rect">
            <a:avLst/>
          </a:prstGeom>
          <a:noFill/>
        </p:spPr>
        <p:txBody>
          <a:bodyPr wrap="square" lIns="0" rIns="0" tIns="0" bIns="0" anchor="t">
            <a:spAutoFit/>
          </a:bodyPr>
          <a:lstStyle/>
          <a:p>
            <a:pPr algn="l"/>
            <a:r>
              <a:rPr sz="1600" b="1" i="0">
                <a:solidFill>
                  <a:srgbClr val="0F766E"/>
                </a:solidFill>
                <a:latin typeface="Segoe UI"/>
              </a:rPr>
              <a:t>Our study</a:t>
            </a:r>
          </a:p>
        </p:txBody>
      </p:sp>
      <p:sp>
        <p:nvSpPr>
          <p:cNvPr id="28" name="TextBox 27"/>
          <p:cNvSpPr txBox="1"/>
          <p:nvPr/>
        </p:nvSpPr>
        <p:spPr>
          <a:xfrm>
            <a:off x="6675120" y="2029968"/>
            <a:ext cx="1645920" cy="347472"/>
          </a:xfrm>
          <a:prstGeom prst="rect">
            <a:avLst/>
          </a:prstGeom>
          <a:noFill/>
        </p:spPr>
        <p:txBody>
          <a:bodyPr wrap="square" lIns="0" rIns="0" tIns="0" bIns="0" anchor="t">
            <a:spAutoFit/>
          </a:bodyPr>
          <a:lstStyle/>
          <a:p>
            <a:pPr algn="l"/>
            <a:r>
              <a:rPr sz="1300" b="1" i="0">
                <a:solidFill>
                  <a:srgbClr val="15202B"/>
                </a:solidFill>
                <a:latin typeface="Segoe UI"/>
              </a:rPr>
              <a:t>Dataset</a:t>
            </a:r>
          </a:p>
        </p:txBody>
      </p:sp>
      <p:sp>
        <p:nvSpPr>
          <p:cNvPr id="29" name="TextBox 28"/>
          <p:cNvSpPr txBox="1"/>
          <p:nvPr/>
        </p:nvSpPr>
        <p:spPr>
          <a:xfrm>
            <a:off x="8366760" y="2029968"/>
            <a:ext cx="3383280" cy="347472"/>
          </a:xfrm>
          <a:prstGeom prst="rect">
            <a:avLst/>
          </a:prstGeom>
          <a:noFill/>
        </p:spPr>
        <p:txBody>
          <a:bodyPr wrap="square" lIns="0" rIns="0" tIns="0" bIns="0" anchor="t">
            <a:spAutoFit/>
          </a:bodyPr>
          <a:lstStyle/>
          <a:p>
            <a:pPr algn="l"/>
            <a:r>
              <a:rPr sz="1300" b="0" i="0">
                <a:solidFill>
                  <a:srgbClr val="5B6B7B"/>
                </a:solidFill>
                <a:latin typeface="Segoe UI"/>
              </a:rPr>
              <a:t>160-doc synthetic corpus, exact GT labels by construction</a:t>
            </a:r>
          </a:p>
        </p:txBody>
      </p:sp>
      <p:cxnSp>
        <p:nvCxnSpPr>
          <p:cNvPr id="30" name="Connector 29"/>
          <p:cNvCxnSpPr/>
          <p:nvPr/>
        </p:nvCxnSpPr>
        <p:spPr>
          <a:xfrm>
            <a:off x="6675120" y="2414016"/>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675120" y="2468880"/>
            <a:ext cx="1645920" cy="347472"/>
          </a:xfrm>
          <a:prstGeom prst="rect">
            <a:avLst/>
          </a:prstGeom>
          <a:noFill/>
        </p:spPr>
        <p:txBody>
          <a:bodyPr wrap="square" lIns="0" rIns="0" tIns="0" bIns="0" anchor="t">
            <a:spAutoFit/>
          </a:bodyPr>
          <a:lstStyle/>
          <a:p>
            <a:pPr algn="l"/>
            <a:r>
              <a:rPr sz="1300" b="1" i="0">
                <a:solidFill>
                  <a:srgbClr val="15202B"/>
                </a:solidFill>
                <a:latin typeface="Segoe UI"/>
              </a:rPr>
              <a:t>Distill</a:t>
            </a:r>
          </a:p>
        </p:txBody>
      </p:sp>
      <p:sp>
        <p:nvSpPr>
          <p:cNvPr id="32" name="TextBox 31"/>
          <p:cNvSpPr txBox="1"/>
          <p:nvPr/>
        </p:nvSpPr>
        <p:spPr>
          <a:xfrm>
            <a:off x="8366760" y="2468880"/>
            <a:ext cx="3383280" cy="347472"/>
          </a:xfrm>
          <a:prstGeom prst="rect">
            <a:avLst/>
          </a:prstGeom>
          <a:noFill/>
        </p:spPr>
        <p:txBody>
          <a:bodyPr wrap="square" lIns="0" rIns="0" tIns="0" bIns="0" anchor="t">
            <a:spAutoFit/>
          </a:bodyPr>
          <a:lstStyle/>
          <a:p>
            <a:pPr algn="l"/>
            <a:r>
              <a:rPr sz="1300" b="0" i="0">
                <a:solidFill>
                  <a:srgbClr val="5B6B7B"/>
                </a:solidFill>
                <a:latin typeface="Segoe UI"/>
              </a:rPr>
              <a:t>Qwen3-8B Q4 local (llama.cpp, GTX 1650)</a:t>
            </a:r>
          </a:p>
        </p:txBody>
      </p:sp>
      <p:cxnSp>
        <p:nvCxnSpPr>
          <p:cNvPr id="33" name="Connector 32"/>
          <p:cNvCxnSpPr/>
          <p:nvPr/>
        </p:nvCxnSpPr>
        <p:spPr>
          <a:xfrm>
            <a:off x="6675120" y="2852928"/>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675120" y="2907792"/>
            <a:ext cx="1645920" cy="347472"/>
          </a:xfrm>
          <a:prstGeom prst="rect">
            <a:avLst/>
          </a:prstGeom>
          <a:noFill/>
        </p:spPr>
        <p:txBody>
          <a:bodyPr wrap="square" lIns="0" rIns="0" tIns="0" bIns="0" anchor="t">
            <a:spAutoFit/>
          </a:bodyPr>
          <a:lstStyle/>
          <a:p>
            <a:pPr algn="l"/>
            <a:r>
              <a:rPr sz="1300" b="1" i="0">
                <a:solidFill>
                  <a:srgbClr val="15202B"/>
                </a:solidFill>
                <a:latin typeface="Segoe UI"/>
              </a:rPr>
              <a:t>Embed</a:t>
            </a:r>
          </a:p>
        </p:txBody>
      </p:sp>
      <p:sp>
        <p:nvSpPr>
          <p:cNvPr id="35" name="TextBox 34"/>
          <p:cNvSpPr txBox="1"/>
          <p:nvPr/>
        </p:nvSpPr>
        <p:spPr>
          <a:xfrm>
            <a:off x="8366760" y="2907792"/>
            <a:ext cx="3383280" cy="347472"/>
          </a:xfrm>
          <a:prstGeom prst="rect">
            <a:avLst/>
          </a:prstGeom>
          <a:noFill/>
        </p:spPr>
        <p:txBody>
          <a:bodyPr wrap="square" lIns="0" rIns="0" tIns="0" bIns="0" anchor="t">
            <a:spAutoFit/>
          </a:bodyPr>
          <a:lstStyle/>
          <a:p>
            <a:pPr algn="l"/>
            <a:r>
              <a:rPr sz="1300" b="0" i="0">
                <a:solidFill>
                  <a:srgbClr val="5B6B7B"/>
                </a:solidFill>
                <a:latin typeface="Segoe UI"/>
              </a:rPr>
              <a:t>bge-small-en-v1.5 + UMAP + HDBSCAN</a:t>
            </a:r>
          </a:p>
        </p:txBody>
      </p:sp>
      <p:cxnSp>
        <p:nvCxnSpPr>
          <p:cNvPr id="36" name="Connector 35"/>
          <p:cNvCxnSpPr/>
          <p:nvPr/>
        </p:nvCxnSpPr>
        <p:spPr>
          <a:xfrm>
            <a:off x="6675120" y="3291840"/>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75120" y="3346704"/>
            <a:ext cx="1645920" cy="347472"/>
          </a:xfrm>
          <a:prstGeom prst="rect">
            <a:avLst/>
          </a:prstGeom>
          <a:noFill/>
        </p:spPr>
        <p:txBody>
          <a:bodyPr wrap="square" lIns="0" rIns="0" tIns="0" bIns="0" anchor="t">
            <a:spAutoFit/>
          </a:bodyPr>
          <a:lstStyle/>
          <a:p>
            <a:pPr algn="l"/>
            <a:r>
              <a:rPr sz="1300" b="1" i="0">
                <a:solidFill>
                  <a:srgbClr val="15202B"/>
                </a:solidFill>
                <a:latin typeface="Segoe UI"/>
              </a:rPr>
              <a:t>Synthesize</a:t>
            </a:r>
          </a:p>
        </p:txBody>
      </p:sp>
      <p:sp>
        <p:nvSpPr>
          <p:cNvPr id="38" name="TextBox 37"/>
          <p:cNvSpPr txBox="1"/>
          <p:nvPr/>
        </p:nvSpPr>
        <p:spPr>
          <a:xfrm>
            <a:off x="8366760" y="3346704"/>
            <a:ext cx="3383280" cy="347472"/>
          </a:xfrm>
          <a:prstGeom prst="rect">
            <a:avLst/>
          </a:prstGeom>
          <a:noFill/>
        </p:spPr>
        <p:txBody>
          <a:bodyPr wrap="square" lIns="0" rIns="0" tIns="0" bIns="0" anchor="t">
            <a:spAutoFit/>
          </a:bodyPr>
          <a:lstStyle/>
          <a:p>
            <a:pPr algn="l"/>
            <a:r>
              <a:rPr sz="1300" b="0" i="0">
                <a:solidFill>
                  <a:srgbClr val="5B6B7B"/>
                </a:solidFill>
                <a:latin typeface="Segoe UI"/>
              </a:rPr>
              <a:t>Gemini Flash-Lite / Qwen3-8B (hybrid)</a:t>
            </a:r>
          </a:p>
        </p:txBody>
      </p:sp>
      <p:cxnSp>
        <p:nvCxnSpPr>
          <p:cNvPr id="39" name="Connector 38"/>
          <p:cNvCxnSpPr/>
          <p:nvPr/>
        </p:nvCxnSpPr>
        <p:spPr>
          <a:xfrm>
            <a:off x="6675120" y="3730752"/>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675120" y="3785616"/>
            <a:ext cx="1645920" cy="347472"/>
          </a:xfrm>
          <a:prstGeom prst="rect">
            <a:avLst/>
          </a:prstGeom>
          <a:noFill/>
        </p:spPr>
        <p:txBody>
          <a:bodyPr wrap="square" lIns="0" rIns="0" tIns="0" bIns="0" anchor="t">
            <a:spAutoFit/>
          </a:bodyPr>
          <a:lstStyle/>
          <a:p>
            <a:pPr algn="l"/>
            <a:r>
              <a:rPr sz="1300" b="1" i="0">
                <a:solidFill>
                  <a:srgbClr val="15202B"/>
                </a:solidFill>
                <a:latin typeface="Segoe UI"/>
              </a:rPr>
              <a:t>Score</a:t>
            </a:r>
          </a:p>
        </p:txBody>
      </p:sp>
      <p:sp>
        <p:nvSpPr>
          <p:cNvPr id="41" name="TextBox 40"/>
          <p:cNvSpPr txBox="1"/>
          <p:nvPr/>
        </p:nvSpPr>
        <p:spPr>
          <a:xfrm>
            <a:off x="8366760" y="3785616"/>
            <a:ext cx="3383280" cy="347472"/>
          </a:xfrm>
          <a:prstGeom prst="rect">
            <a:avLst/>
          </a:prstGeom>
          <a:noFill/>
        </p:spPr>
        <p:txBody>
          <a:bodyPr wrap="square" lIns="0" rIns="0" tIns="0" bIns="0" anchor="t">
            <a:spAutoFit/>
          </a:bodyPr>
          <a:lstStyle/>
          <a:p>
            <a:pPr algn="l"/>
            <a:r>
              <a:rPr sz="1300" b="0" i="0">
                <a:solidFill>
                  <a:srgbClr val="5B6B7B"/>
                </a:solidFill>
                <a:latin typeface="Segoe UI"/>
              </a:rPr>
              <a:t>Gemini few-shot matcher, 20 docs/call</a:t>
            </a:r>
          </a:p>
        </p:txBody>
      </p:sp>
      <p:cxnSp>
        <p:nvCxnSpPr>
          <p:cNvPr id="42" name="Connector 41"/>
          <p:cNvCxnSpPr/>
          <p:nvPr/>
        </p:nvCxnSpPr>
        <p:spPr>
          <a:xfrm>
            <a:off x="6675120" y="4169664"/>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675120" y="4224528"/>
            <a:ext cx="1645920" cy="347472"/>
          </a:xfrm>
          <a:prstGeom prst="rect">
            <a:avLst/>
          </a:prstGeom>
          <a:noFill/>
        </p:spPr>
        <p:txBody>
          <a:bodyPr wrap="square" lIns="0" rIns="0" tIns="0" bIns="0" anchor="t">
            <a:spAutoFit/>
          </a:bodyPr>
          <a:lstStyle/>
          <a:p>
            <a:pPr algn="l"/>
            <a:r>
              <a:rPr sz="1300" b="1" i="0">
                <a:solidFill>
                  <a:srgbClr val="15202B"/>
                </a:solidFill>
                <a:latin typeface="Segoe UI"/>
              </a:rPr>
              <a:t>GT labels</a:t>
            </a:r>
          </a:p>
        </p:txBody>
      </p:sp>
      <p:sp>
        <p:nvSpPr>
          <p:cNvPr id="44" name="TextBox 43"/>
          <p:cNvSpPr txBox="1"/>
          <p:nvPr/>
        </p:nvSpPr>
        <p:spPr>
          <a:xfrm>
            <a:off x="8366760" y="4224528"/>
            <a:ext cx="3383280" cy="347472"/>
          </a:xfrm>
          <a:prstGeom prst="rect">
            <a:avLst/>
          </a:prstGeom>
          <a:noFill/>
        </p:spPr>
        <p:txBody>
          <a:bodyPr wrap="square" lIns="0" rIns="0" tIns="0" bIns="0" anchor="t">
            <a:spAutoFit/>
          </a:bodyPr>
          <a:lstStyle/>
          <a:p>
            <a:pPr algn="l"/>
            <a:r>
              <a:rPr sz="1300" b="0" i="0">
                <a:solidFill>
                  <a:srgbClr val="5B6B7B"/>
                </a:solidFill>
                <a:latin typeface="Segoe UI"/>
              </a:rPr>
              <a:t>Programmatic (zero annotation errors)</a:t>
            </a:r>
          </a:p>
        </p:txBody>
      </p:sp>
      <p:cxnSp>
        <p:nvCxnSpPr>
          <p:cNvPr id="45" name="Connector 44"/>
          <p:cNvCxnSpPr/>
          <p:nvPr/>
        </p:nvCxnSpPr>
        <p:spPr>
          <a:xfrm>
            <a:off x="6675120" y="4608576"/>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675120" y="4663440"/>
            <a:ext cx="1645920" cy="347472"/>
          </a:xfrm>
          <a:prstGeom prst="rect">
            <a:avLst/>
          </a:prstGeom>
          <a:noFill/>
        </p:spPr>
        <p:txBody>
          <a:bodyPr wrap="square" lIns="0" rIns="0" tIns="0" bIns="0" anchor="t">
            <a:spAutoFit/>
          </a:bodyPr>
          <a:lstStyle/>
          <a:p>
            <a:pPr algn="l"/>
            <a:r>
              <a:rPr sz="1300" b="1" i="0">
                <a:solidFill>
                  <a:srgbClr val="15202B"/>
                </a:solidFill>
                <a:latin typeface="Segoe UI"/>
              </a:rPr>
              <a:t>Cost</a:t>
            </a:r>
          </a:p>
        </p:txBody>
      </p:sp>
      <p:sp>
        <p:nvSpPr>
          <p:cNvPr id="47" name="TextBox 46"/>
          <p:cNvSpPr txBox="1"/>
          <p:nvPr/>
        </p:nvSpPr>
        <p:spPr>
          <a:xfrm>
            <a:off x="8366760" y="4663440"/>
            <a:ext cx="3383280" cy="347472"/>
          </a:xfrm>
          <a:prstGeom prst="rect">
            <a:avLst/>
          </a:prstGeom>
          <a:noFill/>
        </p:spPr>
        <p:txBody>
          <a:bodyPr wrap="square" lIns="0" rIns="0" tIns="0" bIns="0" anchor="t">
            <a:spAutoFit/>
          </a:bodyPr>
          <a:lstStyle/>
          <a:p>
            <a:pPr algn="l"/>
            <a:r>
              <a:rPr sz="1300" b="0" i="0">
                <a:solidFill>
                  <a:srgbClr val="5B6B7B"/>
                </a:solidFill>
                <a:latin typeface="Segoe UI"/>
              </a:rPr>
              <a:t>~$0 (free-tier + local GPU)</a:t>
            </a:r>
          </a:p>
        </p:txBody>
      </p:sp>
      <p:cxnSp>
        <p:nvCxnSpPr>
          <p:cNvPr id="48" name="Connector 47"/>
          <p:cNvCxnSpPr/>
          <p:nvPr/>
        </p:nvCxnSpPr>
        <p:spPr>
          <a:xfrm>
            <a:off x="6675120" y="5047488"/>
            <a:ext cx="530352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26480" y="1572768"/>
            <a:ext cx="0" cy="3776472"/>
          </a:xfrm>
          <a:prstGeom prst="line">
            <a:avLst/>
          </a:prstGeom>
          <a:ln w="1270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0" y="5669280"/>
            <a:ext cx="12191695" cy="713232"/>
          </a:xfrm>
          <a:prstGeom prst="rect">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5833872"/>
            <a:ext cx="10972800" cy="457200"/>
          </a:xfrm>
          <a:prstGeom prst="rect">
            <a:avLst/>
          </a:prstGeom>
          <a:noFill/>
        </p:spPr>
        <p:txBody>
          <a:bodyPr wrap="square" lIns="0" rIns="0" tIns="0" bIns="0" anchor="t">
            <a:spAutoFit/>
          </a:bodyPr>
          <a:lstStyle/>
          <a:p>
            <a:pPr algn="l">
              <a:lnSpc>
                <a:spcPct val="120000"/>
              </a:lnSpc>
            </a:pPr>
            <a:r>
              <a:rPr sz="1350" b="1" i="0">
                <a:solidFill>
                  <a:srgbClr val="0F766E"/>
                </a:solidFill>
                <a:latin typeface="Segoe UI"/>
              </a:rPr>
              <a:t>Key difference: </a:t>
            </a:r>
            <a:r>
              <a:rPr sz="1350" b="0" i="0">
                <a:solidFill>
                  <a:srgbClr val="15202B"/>
                </a:solidFill>
                <a:latin typeface="Segoe UI"/>
              </a:rPr>
              <a:t>our ground truth is exact by construction (zero annotation noise). The paper relies on human labelers — our coverage ceiling is higher but harder to reach.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4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Coverage grows — but how fast, and which method wins?</a:t>
            </a:r>
          </a:p>
        </p:txBody>
      </p:sp>
      <p:sp>
        <p:nvSpPr>
          <p:cNvPr id="4" name="TextBox 3"/>
          <p:cNvSpPr txBox="1"/>
          <p:nvPr/>
        </p:nvSpPr>
        <p:spPr>
          <a:xfrm>
            <a:off x="640080" y="1051560"/>
            <a:ext cx="10972800" cy="329184"/>
          </a:xfrm>
          <a:prstGeom prst="rect">
            <a:avLst/>
          </a:prstGeom>
          <a:noFill/>
        </p:spPr>
        <p:txBody>
          <a:bodyPr wrap="square" lIns="0" rIns="0" tIns="0" bIns="0" anchor="t">
            <a:spAutoFit/>
          </a:bodyPr>
          <a:lstStyle/>
          <a:p>
            <a:pPr algn="l"/>
            <a:r>
              <a:rPr sz="1400" b="0" i="0">
                <a:solidFill>
                  <a:srgbClr val="5B6B7B"/>
                </a:solidFill>
                <a:latin typeface="Consolas"/>
              </a:rPr>
              <a:t>E1  |  125 cells  |  n in {10, 20, 40, 80, 160}  |  5 methods  |  5 trials each</a:t>
            </a:r>
          </a:p>
        </p:txBody>
      </p:sp>
      <p:graphicFrame>
        <p:nvGraphicFramePr>
          <p:cNvPr id="5" name="Chart 4"/>
          <p:cNvGraphicFramePr>
            <a:graphicFrameLocks noGrp="1"/>
          </p:cNvGraphicFramePr>
          <p:nvPr/>
        </p:nvGraphicFramePr>
        <p:xfrm>
          <a:off x="502920" y="1389888"/>
          <a:ext cx="7132320" cy="4206240"/>
        </p:xfrm>
        <a:graphic>
          <a:graphicData uri="http://schemas.openxmlformats.org/drawingml/2006/chart">
            <c:chart xmlns:c="http://schemas.openxmlformats.org/drawingml/2006/chart" r:id="rId2"/>
          </a:graphicData>
        </a:graphic>
      </p:graphicFrame>
      <p:sp>
        <p:nvSpPr>
          <p:cNvPr id="6" name="TextBox 5"/>
          <p:cNvSpPr txBox="1"/>
          <p:nvPr/>
        </p:nvSpPr>
        <p:spPr>
          <a:xfrm>
            <a:off x="640080" y="5742432"/>
            <a:ext cx="6858000" cy="502920"/>
          </a:xfrm>
          <a:prstGeom prst="rect">
            <a:avLst/>
          </a:prstGeom>
          <a:noFill/>
        </p:spPr>
        <p:txBody>
          <a:bodyPr wrap="square" lIns="0" rIns="0" tIns="0" bIns="0" anchor="t">
            <a:spAutoFit/>
          </a:bodyPr>
          <a:lstStyle/>
          <a:p>
            <a:pPr algn="l">
              <a:lnSpc>
                <a:spcPct val="120000"/>
              </a:lnSpc>
            </a:pPr>
            <a:r>
              <a:rPr sz="1150" b="0" i="0">
                <a:solidFill>
                  <a:srgbClr val="5B6B7B"/>
                </a:solidFill>
                <a:latin typeface="Segoe UI"/>
              </a:rPr>
              <a:t>Specific concept coverage (40-concept taxonomy). 5 independent trials per cell.</a:t>
            </a:r>
          </a:p>
        </p:txBody>
      </p:sp>
      <p:sp>
        <p:nvSpPr>
          <p:cNvPr id="7" name="TextBox 6"/>
          <p:cNvSpPr txBox="1"/>
          <p:nvPr/>
        </p:nvSpPr>
        <p:spPr>
          <a:xfrm>
            <a:off x="8321040" y="1444752"/>
            <a:ext cx="3657600" cy="777240"/>
          </a:xfrm>
          <a:prstGeom prst="rect">
            <a:avLst/>
          </a:prstGeom>
          <a:noFill/>
        </p:spPr>
        <p:txBody>
          <a:bodyPr wrap="square" lIns="0" rIns="0" tIns="0" bIns="0" anchor="t">
            <a:spAutoFit/>
          </a:bodyPr>
          <a:lstStyle/>
          <a:p>
            <a:pPr algn="l"/>
            <a:r>
              <a:rPr sz="4400" b="1" i="0">
                <a:solidFill>
                  <a:srgbClr val="D97706"/>
                </a:solidFill>
                <a:latin typeface="Segoe UI"/>
              </a:rPr>
              <a:t>0.80</a:t>
            </a:r>
          </a:p>
        </p:txBody>
      </p:sp>
      <p:sp>
        <p:nvSpPr>
          <p:cNvPr id="8" name="TextBox 7"/>
          <p:cNvSpPr txBox="1"/>
          <p:nvPr/>
        </p:nvSpPr>
        <p:spPr>
          <a:xfrm>
            <a:off x="8321040" y="2231136"/>
            <a:ext cx="3657600" cy="502920"/>
          </a:xfrm>
          <a:prstGeom prst="rect">
            <a:avLst/>
          </a:prstGeom>
          <a:noFill/>
        </p:spPr>
        <p:txBody>
          <a:bodyPr wrap="square" lIns="0" rIns="0" tIns="0" bIns="0" anchor="t">
            <a:spAutoFit/>
          </a:bodyPr>
          <a:lstStyle/>
          <a:p>
            <a:pPr algn="l">
              <a:lnSpc>
                <a:spcPct val="110000"/>
              </a:lnSpc>
            </a:pPr>
            <a:r>
              <a:rPr sz="1300" b="0" i="0">
                <a:solidFill>
                  <a:srgbClr val="5B6B7B"/>
                </a:solidFill>
                <a:latin typeface="Segoe UI"/>
              </a:rPr>
              <a:t>LLooM-Qwen @ n=160</a:t>
            </a:r>
          </a:p>
        </p:txBody>
      </p:sp>
      <p:cxnSp>
        <p:nvCxnSpPr>
          <p:cNvPr id="9" name="Connector 8"/>
          <p:cNvCxnSpPr/>
          <p:nvPr/>
        </p:nvCxnSpPr>
        <p:spPr>
          <a:xfrm>
            <a:off x="8321040" y="2816352"/>
            <a:ext cx="3657600" cy="0"/>
          </a:xfrm>
          <a:prstGeom prst="line">
            <a:avLst/>
          </a:prstGeom>
          <a:ln w="1270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21040" y="2980944"/>
            <a:ext cx="3657600" cy="777240"/>
          </a:xfrm>
          <a:prstGeom prst="rect">
            <a:avLst/>
          </a:prstGeom>
          <a:noFill/>
        </p:spPr>
        <p:txBody>
          <a:bodyPr wrap="square" lIns="0" rIns="0" tIns="0" bIns="0" anchor="t">
            <a:spAutoFit/>
          </a:bodyPr>
          <a:lstStyle/>
          <a:p>
            <a:pPr algn="l"/>
            <a:r>
              <a:rPr sz="2800" b="1" i="0">
                <a:solidFill>
                  <a:srgbClr val="0F766E"/>
                </a:solidFill>
                <a:latin typeface="Segoe UI"/>
              </a:rPr>
              <a:t>CV to 0</a:t>
            </a:r>
          </a:p>
        </p:txBody>
      </p:sp>
      <p:sp>
        <p:nvSpPr>
          <p:cNvPr id="11" name="TextBox 10"/>
          <p:cNvSpPr txBox="1"/>
          <p:nvPr/>
        </p:nvSpPr>
        <p:spPr>
          <a:xfrm>
            <a:off x="8321040" y="3767328"/>
            <a:ext cx="3657600" cy="502920"/>
          </a:xfrm>
          <a:prstGeom prst="rect">
            <a:avLst/>
          </a:prstGeom>
          <a:noFill/>
        </p:spPr>
        <p:txBody>
          <a:bodyPr wrap="square" lIns="0" rIns="0" tIns="0" bIns="0" anchor="t">
            <a:spAutoFit/>
          </a:bodyPr>
          <a:lstStyle/>
          <a:p>
            <a:pPr algn="l">
              <a:lnSpc>
                <a:spcPct val="110000"/>
              </a:lnSpc>
            </a:pPr>
            <a:r>
              <a:rPr sz="1300" b="0" i="0">
                <a:solidFill>
                  <a:srgbClr val="5B6B7B"/>
                </a:solidFill>
                <a:latin typeface="Segoe UI"/>
              </a:rPr>
              <a:t>variance collapses as n grows</a:t>
            </a:r>
          </a:p>
        </p:txBody>
      </p:sp>
      <p:cxnSp>
        <p:nvCxnSpPr>
          <p:cNvPr id="12" name="Connector 11"/>
          <p:cNvCxnSpPr/>
          <p:nvPr/>
        </p:nvCxnSpPr>
        <p:spPr>
          <a:xfrm>
            <a:off x="8321040" y="4352544"/>
            <a:ext cx="3657600" cy="0"/>
          </a:xfrm>
          <a:prstGeom prst="line">
            <a:avLst/>
          </a:prstGeom>
          <a:ln w="1270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21040" y="4517136"/>
            <a:ext cx="3657600" cy="777240"/>
          </a:xfrm>
          <a:prstGeom prst="rect">
            <a:avLst/>
          </a:prstGeom>
          <a:noFill/>
        </p:spPr>
        <p:txBody>
          <a:bodyPr wrap="square" lIns="0" rIns="0" tIns="0" bIns="0" anchor="t">
            <a:spAutoFit/>
          </a:bodyPr>
          <a:lstStyle/>
          <a:p>
            <a:pPr algn="l"/>
            <a:r>
              <a:rPr sz="3000" b="1" i="0">
                <a:solidFill>
                  <a:srgbClr val="5B6B7B"/>
                </a:solidFill>
                <a:latin typeface="Segoe UI"/>
              </a:rPr>
              <a:t>~0%</a:t>
            </a:r>
          </a:p>
        </p:txBody>
      </p:sp>
      <p:sp>
        <p:nvSpPr>
          <p:cNvPr id="14" name="TextBox 13"/>
          <p:cNvSpPr txBox="1"/>
          <p:nvPr/>
        </p:nvSpPr>
        <p:spPr>
          <a:xfrm>
            <a:off x="8321040" y="5303520"/>
            <a:ext cx="3657600" cy="502920"/>
          </a:xfrm>
          <a:prstGeom prst="rect">
            <a:avLst/>
          </a:prstGeom>
          <a:noFill/>
        </p:spPr>
        <p:txBody>
          <a:bodyPr wrap="square" lIns="0" rIns="0" tIns="0" bIns="0" anchor="t">
            <a:spAutoFit/>
          </a:bodyPr>
          <a:lstStyle/>
          <a:p>
            <a:pPr algn="l">
              <a:lnSpc>
                <a:spcPct val="110000"/>
              </a:lnSpc>
            </a:pPr>
            <a:r>
              <a:rPr sz="1300" b="0" i="0">
                <a:solidFill>
                  <a:srgbClr val="5B6B7B"/>
                </a:solidFill>
                <a:latin typeface="Segoe UI"/>
              </a:rPr>
              <a:t>BERTopic specific coverage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5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What happens when labels are randomized?</a:t>
            </a:r>
          </a:p>
        </p:txBody>
      </p:sp>
      <p:sp>
        <p:nvSpPr>
          <p:cNvPr id="4" name="TextBox 3"/>
          <p:cNvSpPr txBox="1"/>
          <p:nvPr/>
        </p:nvSpPr>
        <p:spPr>
          <a:xfrm>
            <a:off x="640080" y="1051560"/>
            <a:ext cx="10972800" cy="329184"/>
          </a:xfrm>
          <a:prstGeom prst="rect">
            <a:avLst/>
          </a:prstGeom>
          <a:noFill/>
        </p:spPr>
        <p:txBody>
          <a:bodyPr wrap="square" lIns="0" rIns="0" tIns="0" bIns="0" anchor="t">
            <a:spAutoFit/>
          </a:bodyPr>
          <a:lstStyle/>
          <a:p>
            <a:pPr algn="l"/>
            <a:r>
              <a:rPr sz="1400" b="0" i="0">
                <a:solidFill>
                  <a:srgbClr val="5B6B7B"/>
                </a:solidFill>
                <a:latin typeface="Consolas"/>
              </a:rPr>
              <a:t>E5  |  10 label derangements  |  zero fixed points  |  the paper never tested this</a:t>
            </a:r>
          </a:p>
        </p:txBody>
      </p:sp>
      <p:sp>
        <p:nvSpPr>
          <p:cNvPr id="5" name="Rounded Rectangle 4"/>
          <p:cNvSpPr/>
          <p:nvPr/>
        </p:nvSpPr>
        <p:spPr>
          <a:xfrm>
            <a:off x="594360" y="1481328"/>
            <a:ext cx="5120640" cy="3931920"/>
          </a:xfrm>
          <a:prstGeom prst="roundRect">
            <a:avLst>
              <a:gd name="adj" fmla="val 8000"/>
            </a:avLst>
          </a:prstGeom>
          <a:solidFill>
            <a:srgbClr val="E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64208"/>
            <a:ext cx="4754880" cy="365760"/>
          </a:xfrm>
          <a:prstGeom prst="rect">
            <a:avLst/>
          </a:prstGeom>
          <a:noFill/>
        </p:spPr>
        <p:txBody>
          <a:bodyPr wrap="square" lIns="0" rIns="0" tIns="0" bIns="0" anchor="t">
            <a:spAutoFit/>
          </a:bodyPr>
          <a:lstStyle/>
          <a:p>
            <a:pPr algn="l"/>
            <a:r>
              <a:rPr sz="1500" b="1" i="0">
                <a:solidFill>
                  <a:srgbClr val="0F766E"/>
                </a:solidFill>
                <a:latin typeface="Segoe UI"/>
              </a:rPr>
              <a:t>True labels</a:t>
            </a:r>
          </a:p>
        </p:txBody>
      </p:sp>
      <p:sp>
        <p:nvSpPr>
          <p:cNvPr id="7" name="TextBox 6"/>
          <p:cNvSpPr txBox="1"/>
          <p:nvPr/>
        </p:nvSpPr>
        <p:spPr>
          <a:xfrm>
            <a:off x="777240" y="2084831"/>
            <a:ext cx="4754880" cy="914400"/>
          </a:xfrm>
          <a:prstGeom prst="rect">
            <a:avLst/>
          </a:prstGeom>
          <a:noFill/>
        </p:spPr>
        <p:txBody>
          <a:bodyPr wrap="square" lIns="0" rIns="0" tIns="0" bIns="0" anchor="t">
            <a:spAutoFit/>
          </a:bodyPr>
          <a:lstStyle/>
          <a:p>
            <a:pPr algn="l"/>
            <a:r>
              <a:rPr sz="4600" b="1" i="0">
                <a:solidFill>
                  <a:srgbClr val="0F766E"/>
                </a:solidFill>
                <a:latin typeface="Segoe UI"/>
              </a:rPr>
              <a:t>F1 = 0.613</a:t>
            </a:r>
          </a:p>
        </p:txBody>
      </p:sp>
      <p:sp>
        <p:nvSpPr>
          <p:cNvPr id="8" name="TextBox 7"/>
          <p:cNvSpPr txBox="1"/>
          <p:nvPr/>
        </p:nvSpPr>
        <p:spPr>
          <a:xfrm>
            <a:off x="777240" y="3127248"/>
            <a:ext cx="4754880" cy="320040"/>
          </a:xfrm>
          <a:prstGeom prst="rect">
            <a:avLst/>
          </a:prstGeom>
          <a:noFill/>
        </p:spPr>
        <p:txBody>
          <a:bodyPr wrap="square" lIns="0" rIns="0" tIns="0" bIns="0" anchor="t">
            <a:spAutoFit/>
          </a:bodyPr>
          <a:lstStyle/>
          <a:p>
            <a:pPr algn="l"/>
            <a:r>
              <a:rPr sz="1300" b="0" i="0">
                <a:solidFill>
                  <a:srgbClr val="5B6B7B"/>
                </a:solidFill>
                <a:latin typeface="Segoe UI"/>
              </a:rPr>
              <a:t>Zero-Shot Gemini @ n=160</a:t>
            </a:r>
          </a:p>
        </p:txBody>
      </p:sp>
      <p:sp>
        <p:nvSpPr>
          <p:cNvPr id="9" name="TextBox 8"/>
          <p:cNvSpPr txBox="1"/>
          <p:nvPr/>
        </p:nvSpPr>
        <p:spPr>
          <a:xfrm>
            <a:off x="5870448" y="3090672"/>
            <a:ext cx="868680" cy="502920"/>
          </a:xfrm>
          <a:prstGeom prst="rect">
            <a:avLst/>
          </a:prstGeom>
          <a:noFill/>
        </p:spPr>
        <p:txBody>
          <a:bodyPr wrap="square" lIns="0" rIns="0" tIns="0" bIns="0" anchor="t">
            <a:spAutoFit/>
          </a:bodyPr>
          <a:lstStyle/>
          <a:p>
            <a:pPr algn="ctr"/>
            <a:r>
              <a:rPr sz="3600" b="1" i="0">
                <a:solidFill>
                  <a:srgbClr val="DC2626"/>
                </a:solidFill>
                <a:latin typeface="Segoe UI"/>
              </a:rPr>
              <a:t>-&gt;</a:t>
            </a:r>
          </a:p>
        </p:txBody>
      </p:sp>
      <p:sp>
        <p:nvSpPr>
          <p:cNvPr id="10" name="Rounded Rectangle 9"/>
          <p:cNvSpPr/>
          <p:nvPr/>
        </p:nvSpPr>
        <p:spPr>
          <a:xfrm>
            <a:off x="6858000" y="1481328"/>
            <a:ext cx="4663440" cy="3931920"/>
          </a:xfrm>
          <a:prstGeom prst="roundRect">
            <a:avLst>
              <a:gd name="adj" fmla="val 8000"/>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1664208"/>
            <a:ext cx="4297680" cy="365760"/>
          </a:xfrm>
          <a:prstGeom prst="rect">
            <a:avLst/>
          </a:prstGeom>
          <a:noFill/>
        </p:spPr>
        <p:txBody>
          <a:bodyPr wrap="square" lIns="0" rIns="0" tIns="0" bIns="0" anchor="t">
            <a:spAutoFit/>
          </a:bodyPr>
          <a:lstStyle/>
          <a:p>
            <a:pPr algn="l"/>
            <a:r>
              <a:rPr sz="1500" b="1" i="0">
                <a:solidFill>
                  <a:srgbClr val="DC2626"/>
                </a:solidFill>
                <a:latin typeface="Segoe UI"/>
              </a:rPr>
              <a:t>Deranged labels</a:t>
            </a:r>
          </a:p>
        </p:txBody>
      </p:sp>
      <p:sp>
        <p:nvSpPr>
          <p:cNvPr id="12" name="TextBox 11"/>
          <p:cNvSpPr txBox="1"/>
          <p:nvPr/>
        </p:nvSpPr>
        <p:spPr>
          <a:xfrm>
            <a:off x="7040880" y="2084831"/>
            <a:ext cx="4297680" cy="914400"/>
          </a:xfrm>
          <a:prstGeom prst="rect">
            <a:avLst/>
          </a:prstGeom>
          <a:noFill/>
        </p:spPr>
        <p:txBody>
          <a:bodyPr wrap="square" lIns="0" rIns="0" tIns="0" bIns="0" anchor="t">
            <a:spAutoFit/>
          </a:bodyPr>
          <a:lstStyle/>
          <a:p>
            <a:pPr algn="l"/>
            <a:r>
              <a:rPr sz="4600" b="1" i="0">
                <a:solidFill>
                  <a:srgbClr val="DC2626"/>
                </a:solidFill>
                <a:latin typeface="Segoe UI"/>
              </a:rPr>
              <a:t>F1 = 0.032</a:t>
            </a:r>
          </a:p>
        </p:txBody>
      </p:sp>
      <p:sp>
        <p:nvSpPr>
          <p:cNvPr id="13" name="TextBox 12"/>
          <p:cNvSpPr txBox="1"/>
          <p:nvPr/>
        </p:nvSpPr>
        <p:spPr>
          <a:xfrm>
            <a:off x="7040880" y="3127248"/>
            <a:ext cx="4297680" cy="320040"/>
          </a:xfrm>
          <a:prstGeom prst="rect">
            <a:avLst/>
          </a:prstGeom>
          <a:noFill/>
        </p:spPr>
        <p:txBody>
          <a:bodyPr wrap="square" lIns="0" rIns="0" tIns="0" bIns="0" anchor="t">
            <a:spAutoFit/>
          </a:bodyPr>
          <a:lstStyle/>
          <a:p>
            <a:pPr algn="l"/>
            <a:r>
              <a:rPr sz="1300" b="0" i="0">
                <a:solidFill>
                  <a:srgbClr val="5B6B7B"/>
                </a:solidFill>
                <a:latin typeface="Segoe UI"/>
              </a:rPr>
              <a:t>Same docs, permuted GT (pi(y) != y)</a:t>
            </a:r>
          </a:p>
        </p:txBody>
      </p:sp>
      <p:sp>
        <p:nvSpPr>
          <p:cNvPr id="14" name="TextBox 13"/>
          <p:cNvSpPr txBox="1"/>
          <p:nvPr/>
        </p:nvSpPr>
        <p:spPr>
          <a:xfrm>
            <a:off x="594360" y="5577840"/>
            <a:ext cx="10972800" cy="548640"/>
          </a:xfrm>
          <a:prstGeom prst="rect">
            <a:avLst/>
          </a:prstGeom>
          <a:noFill/>
        </p:spPr>
        <p:txBody>
          <a:bodyPr wrap="square" lIns="0" rIns="0" tIns="0" bIns="0" anchor="t">
            <a:spAutoFit/>
          </a:bodyPr>
          <a:lstStyle/>
          <a:p>
            <a:pPr algn="l">
              <a:lnSpc>
                <a:spcPct val="120000"/>
              </a:lnSpc>
            </a:pPr>
            <a:r>
              <a:rPr sz="2200" b="1" i="0">
                <a:solidFill>
                  <a:srgbClr val="DC2626"/>
                </a:solidFill>
                <a:latin typeface="Segoe UI"/>
              </a:rPr>
              <a:t>94.8% collapse </a:t>
            </a:r>
            <a:r>
              <a:rPr sz="1500" b="0" i="0">
                <a:solidFill>
                  <a:srgbClr val="15202B"/>
                </a:solidFill>
                <a:latin typeface="Segoe UI"/>
              </a:rPr>
              <a:t>— performance drops to random chance when concept-label alignment is broken. The paper's gains are real, not a measurement artifact.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6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Three more lenses on concept induction</a:t>
            </a:r>
          </a:p>
        </p:txBody>
      </p:sp>
      <p:sp>
        <p:nvSpPr>
          <p:cNvPr id="4" name="TextBox 3"/>
          <p:cNvSpPr txBox="1"/>
          <p:nvPr/>
        </p:nvSpPr>
        <p:spPr>
          <a:xfrm>
            <a:off x="640080" y="1051560"/>
            <a:ext cx="10972800" cy="329184"/>
          </a:xfrm>
          <a:prstGeom prst="rect">
            <a:avLst/>
          </a:prstGeom>
          <a:noFill/>
        </p:spPr>
        <p:txBody>
          <a:bodyPr wrap="square" lIns="0" rIns="0" tIns="0" bIns="0" anchor="t">
            <a:spAutoFit/>
          </a:bodyPr>
          <a:lstStyle/>
          <a:p>
            <a:pPr algn="l"/>
            <a:r>
              <a:rPr sz="1400" b="0" i="0">
                <a:solidFill>
                  <a:srgbClr val="5B6B7B"/>
                </a:solidFill>
                <a:latin typeface="Segoe UI"/>
              </a:rPr>
              <a:t>Consistency, capacity, and generalization — all checked empirically.</a:t>
            </a:r>
          </a:p>
        </p:txBody>
      </p:sp>
      <p:sp>
        <p:nvSpPr>
          <p:cNvPr id="5" name="Rounded Rectangle 4"/>
          <p:cNvSpPr/>
          <p:nvPr/>
        </p:nvSpPr>
        <p:spPr>
          <a:xfrm>
            <a:off x="566928" y="1481328"/>
            <a:ext cx="3685032" cy="4663440"/>
          </a:xfrm>
          <a:prstGeom prst="roundRect">
            <a:avLst>
              <a:gd name="adj" fmla="val 9000"/>
            </a:avLst>
          </a:prstGeom>
          <a:solidFill>
            <a:srgbClr val="FFFFFF"/>
          </a:solidFill>
          <a:ln w="2286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04088" y="1664208"/>
            <a:ext cx="502920" cy="292608"/>
          </a:xfrm>
          <a:prstGeom prst="roundRect">
            <a:avLst>
              <a:gd name="adj" fmla="val 15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700784"/>
            <a:ext cx="502920" cy="237744"/>
          </a:xfrm>
          <a:prstGeom prst="rect">
            <a:avLst/>
          </a:prstGeom>
          <a:noFill/>
        </p:spPr>
        <p:txBody>
          <a:bodyPr wrap="square" lIns="0" rIns="0" tIns="0" bIns="0" anchor="t">
            <a:spAutoFit/>
          </a:bodyPr>
          <a:lstStyle/>
          <a:p>
            <a:pPr algn="ctr"/>
            <a:r>
              <a:rPr sz="1200" b="1" i="0">
                <a:solidFill>
                  <a:srgbClr val="FFFFFF"/>
                </a:solidFill>
                <a:latin typeface="Segoe UI"/>
              </a:rPr>
              <a:t>E2</a:t>
            </a:r>
          </a:p>
        </p:txBody>
      </p:sp>
      <p:sp>
        <p:nvSpPr>
          <p:cNvPr id="8" name="TextBox 7"/>
          <p:cNvSpPr txBox="1"/>
          <p:nvPr/>
        </p:nvSpPr>
        <p:spPr>
          <a:xfrm>
            <a:off x="1344168" y="1664208"/>
            <a:ext cx="2743200" cy="320040"/>
          </a:xfrm>
          <a:prstGeom prst="rect">
            <a:avLst/>
          </a:prstGeom>
          <a:noFill/>
        </p:spPr>
        <p:txBody>
          <a:bodyPr wrap="square" lIns="0" rIns="0" tIns="0" bIns="0" anchor="t">
            <a:spAutoFit/>
          </a:bodyPr>
          <a:lstStyle/>
          <a:p>
            <a:pPr algn="l"/>
            <a:r>
              <a:rPr sz="1350" b="1" i="0">
                <a:solidFill>
                  <a:srgbClr val="16A34A"/>
                </a:solidFill>
                <a:latin typeface="Segoe UI"/>
              </a:rPr>
              <a:t>Consistency check</a:t>
            </a:r>
          </a:p>
        </p:txBody>
      </p:sp>
      <p:sp>
        <p:nvSpPr>
          <p:cNvPr id="9" name="TextBox 8"/>
          <p:cNvSpPr txBox="1"/>
          <p:nvPr/>
        </p:nvSpPr>
        <p:spPr>
          <a:xfrm>
            <a:off x="749808" y="2103120"/>
            <a:ext cx="3337560" cy="502920"/>
          </a:xfrm>
          <a:prstGeom prst="rect">
            <a:avLst/>
          </a:prstGeom>
          <a:noFill/>
        </p:spPr>
        <p:txBody>
          <a:bodyPr wrap="square" lIns="0" rIns="0" tIns="0" bIns="0" anchor="t">
            <a:spAutoFit/>
          </a:bodyPr>
          <a:lstStyle/>
          <a:p>
            <a:pPr algn="l">
              <a:lnSpc>
                <a:spcPct val="115000"/>
              </a:lnSpc>
            </a:pPr>
            <a:r>
              <a:rPr sz="1250" b="0" i="0">
                <a:solidFill>
                  <a:srgbClr val="5B6B7B"/>
                </a:solidFill>
                <a:latin typeface="Consolas"/>
              </a:rPr>
              <a:t>Consistent learner
(rectangles control)</a:t>
            </a:r>
          </a:p>
        </p:txBody>
      </p:sp>
      <p:cxnSp>
        <p:nvCxnSpPr>
          <p:cNvPr id="10" name="Connector 9"/>
          <p:cNvCxnSpPr/>
          <p:nvPr/>
        </p:nvCxnSpPr>
        <p:spPr>
          <a:xfrm>
            <a:off x="749808" y="2697480"/>
            <a:ext cx="3291840" cy="0"/>
          </a:xfrm>
          <a:prstGeom prst="line">
            <a:avLst/>
          </a:prstGeom>
          <a:ln w="1016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64108" y="2903220"/>
            <a:ext cx="82296" cy="82296"/>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834640"/>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Mitchell bound: m &gt;= (4/eps)*ln(13/delta)</a:t>
            </a:r>
          </a:p>
        </p:txBody>
      </p:sp>
      <p:sp>
        <p:nvSpPr>
          <p:cNvPr id="13" name="Oval 12"/>
          <p:cNvSpPr/>
          <p:nvPr/>
        </p:nvSpPr>
        <p:spPr>
          <a:xfrm>
            <a:off x="864108" y="3378708"/>
            <a:ext cx="82296" cy="82296"/>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310128"/>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0 violations across all (eps,delta) pairs</a:t>
            </a:r>
          </a:p>
        </p:txBody>
      </p:sp>
      <p:sp>
        <p:nvSpPr>
          <p:cNvPr id="15" name="Oval 14"/>
          <p:cNvSpPr/>
          <p:nvPr/>
        </p:nvSpPr>
        <p:spPr>
          <a:xfrm>
            <a:off x="864108" y="3854196"/>
            <a:ext cx="82296" cy="82296"/>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85616"/>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Benchmark for 'good' sample complexity</a:t>
            </a:r>
          </a:p>
        </p:txBody>
      </p:sp>
      <p:sp>
        <p:nvSpPr>
          <p:cNvPr id="17" name="Rounded Rectangle 16"/>
          <p:cNvSpPr/>
          <p:nvPr/>
        </p:nvSpPr>
        <p:spPr>
          <a:xfrm>
            <a:off x="4434840" y="1481328"/>
            <a:ext cx="3685032" cy="4663440"/>
          </a:xfrm>
          <a:prstGeom prst="roundRect">
            <a:avLst>
              <a:gd name="adj" fmla="val 9000"/>
            </a:avLst>
          </a:prstGeom>
          <a:solidFill>
            <a:srgbClr val="FFFFFF"/>
          </a:solidFill>
          <a:ln w="2286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0" y="1664208"/>
            <a:ext cx="502920" cy="292608"/>
          </a:xfrm>
          <a:prstGeom prst="roundRect">
            <a:avLst>
              <a:gd name="adj" fmla="val 15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700784"/>
            <a:ext cx="502920" cy="237744"/>
          </a:xfrm>
          <a:prstGeom prst="rect">
            <a:avLst/>
          </a:prstGeom>
          <a:noFill/>
        </p:spPr>
        <p:txBody>
          <a:bodyPr wrap="square" lIns="0" rIns="0" tIns="0" bIns="0" anchor="t">
            <a:spAutoFit/>
          </a:bodyPr>
          <a:lstStyle/>
          <a:p>
            <a:pPr algn="ctr"/>
            <a:r>
              <a:rPr sz="1200" b="1" i="0">
                <a:solidFill>
                  <a:srgbClr val="FFFFFF"/>
                </a:solidFill>
                <a:latin typeface="Segoe UI"/>
              </a:rPr>
              <a:t>E3</a:t>
            </a:r>
          </a:p>
        </p:txBody>
      </p:sp>
      <p:sp>
        <p:nvSpPr>
          <p:cNvPr id="20" name="TextBox 19"/>
          <p:cNvSpPr txBox="1"/>
          <p:nvPr/>
        </p:nvSpPr>
        <p:spPr>
          <a:xfrm>
            <a:off x="5212080" y="1664208"/>
            <a:ext cx="2743200" cy="320040"/>
          </a:xfrm>
          <a:prstGeom prst="rect">
            <a:avLst/>
          </a:prstGeom>
          <a:noFill/>
        </p:spPr>
        <p:txBody>
          <a:bodyPr wrap="square" lIns="0" rIns="0" tIns="0" bIns="0" anchor="t">
            <a:spAutoFit/>
          </a:bodyPr>
          <a:lstStyle/>
          <a:p>
            <a:pPr algn="l"/>
            <a:r>
              <a:rPr sz="1350" b="1" i="0">
                <a:solidFill>
                  <a:srgbClr val="0F766E"/>
                </a:solidFill>
                <a:latin typeface="Segoe UI"/>
              </a:rPr>
              <a:t>How complex is the concept space?</a:t>
            </a:r>
          </a:p>
        </p:txBody>
      </p:sp>
      <p:sp>
        <p:nvSpPr>
          <p:cNvPr id="21" name="TextBox 20"/>
          <p:cNvSpPr txBox="1"/>
          <p:nvPr/>
        </p:nvSpPr>
        <p:spPr>
          <a:xfrm>
            <a:off x="4617720" y="2103120"/>
            <a:ext cx="3337560" cy="502920"/>
          </a:xfrm>
          <a:prstGeom prst="rect">
            <a:avLst/>
          </a:prstGeom>
          <a:noFill/>
        </p:spPr>
        <p:txBody>
          <a:bodyPr wrap="square" lIns="0" rIns="0" tIns="0" bIns="0" anchor="t">
            <a:spAutoFit/>
          </a:bodyPr>
          <a:lstStyle/>
          <a:p>
            <a:pPr algn="l">
              <a:lnSpc>
                <a:spcPct val="115000"/>
              </a:lnSpc>
            </a:pPr>
            <a:r>
              <a:rPr sz="1250" b="0" i="0">
                <a:solidFill>
                  <a:srgbClr val="5B6B7B"/>
                </a:solidFill>
                <a:latin typeface="Consolas"/>
              </a:rPr>
              <a:t>Growth function
&amp; VC dimension</a:t>
            </a:r>
          </a:p>
        </p:txBody>
      </p:sp>
      <p:cxnSp>
        <p:nvCxnSpPr>
          <p:cNvPr id="22" name="Connector 21"/>
          <p:cNvCxnSpPr/>
          <p:nvPr/>
        </p:nvCxnSpPr>
        <p:spPr>
          <a:xfrm>
            <a:off x="4617720" y="2697480"/>
            <a:ext cx="3291840" cy="0"/>
          </a:xfrm>
          <a:prstGeom prst="line">
            <a:avLst/>
          </a:prstGeom>
          <a:ln w="1016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732020" y="2903220"/>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5192" y="2834640"/>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VC dim: threshold=1, interval=2, rect=4</a:t>
            </a:r>
          </a:p>
        </p:txBody>
      </p:sp>
      <p:sp>
        <p:nvSpPr>
          <p:cNvPr id="25" name="Oval 24"/>
          <p:cNvSpPr/>
          <p:nvPr/>
        </p:nvSpPr>
        <p:spPr>
          <a:xfrm>
            <a:off x="4732020" y="3378708"/>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65192" y="3310128"/>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Exponential -&gt; polynomial at shattering limit</a:t>
            </a:r>
          </a:p>
        </p:txBody>
      </p:sp>
      <p:sp>
        <p:nvSpPr>
          <p:cNvPr id="27" name="Oval 26"/>
          <p:cNvSpPr/>
          <p:nvPr/>
        </p:nvSpPr>
        <p:spPr>
          <a:xfrm>
            <a:off x="4732020" y="3854196"/>
            <a:ext cx="82296" cy="822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65192" y="3785616"/>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LLooM's concept class is finite-capacity</a:t>
            </a:r>
          </a:p>
        </p:txBody>
      </p:sp>
      <p:sp>
        <p:nvSpPr>
          <p:cNvPr id="29" name="Rounded Rectangle 28"/>
          <p:cNvSpPr/>
          <p:nvPr/>
        </p:nvSpPr>
        <p:spPr>
          <a:xfrm>
            <a:off x="8302752" y="1481328"/>
            <a:ext cx="3685032" cy="4663440"/>
          </a:xfrm>
          <a:prstGeom prst="roundRect">
            <a:avLst>
              <a:gd name="adj" fmla="val 9000"/>
            </a:avLst>
          </a:prstGeom>
          <a:solidFill>
            <a:srgbClr val="FFFFFF"/>
          </a:solidFill>
          <a:ln w="2286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439912" y="1664208"/>
            <a:ext cx="502920" cy="292608"/>
          </a:xfrm>
          <a:prstGeom prst="roundRect">
            <a:avLst>
              <a:gd name="adj" fmla="val 15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39912" y="1700784"/>
            <a:ext cx="502920" cy="237744"/>
          </a:xfrm>
          <a:prstGeom prst="rect">
            <a:avLst/>
          </a:prstGeom>
          <a:noFill/>
        </p:spPr>
        <p:txBody>
          <a:bodyPr wrap="square" lIns="0" rIns="0" tIns="0" bIns="0" anchor="t">
            <a:spAutoFit/>
          </a:bodyPr>
          <a:lstStyle/>
          <a:p>
            <a:pPr algn="ctr"/>
            <a:r>
              <a:rPr sz="1200" b="1" i="0">
                <a:solidFill>
                  <a:srgbClr val="FFFFFF"/>
                </a:solidFill>
                <a:latin typeface="Segoe UI"/>
              </a:rPr>
              <a:t>E4</a:t>
            </a:r>
          </a:p>
        </p:txBody>
      </p:sp>
      <p:sp>
        <p:nvSpPr>
          <p:cNvPr id="32" name="TextBox 31"/>
          <p:cNvSpPr txBox="1"/>
          <p:nvPr/>
        </p:nvSpPr>
        <p:spPr>
          <a:xfrm>
            <a:off x="9079992" y="1664208"/>
            <a:ext cx="2743200" cy="320040"/>
          </a:xfrm>
          <a:prstGeom prst="rect">
            <a:avLst/>
          </a:prstGeom>
          <a:noFill/>
        </p:spPr>
        <p:txBody>
          <a:bodyPr wrap="square" lIns="0" rIns="0" tIns="0" bIns="0" anchor="t">
            <a:spAutoFit/>
          </a:bodyPr>
          <a:lstStyle/>
          <a:p>
            <a:pPr algn="l"/>
            <a:r>
              <a:rPr sz="1350" b="1" i="0">
                <a:solidFill>
                  <a:srgbClr val="D97706"/>
                </a:solidFill>
                <a:latin typeface="Segoe UI"/>
              </a:rPr>
              <a:t>Do induced concepts generalize?</a:t>
            </a:r>
          </a:p>
        </p:txBody>
      </p:sp>
      <p:sp>
        <p:nvSpPr>
          <p:cNvPr id="33" name="TextBox 32"/>
          <p:cNvSpPr txBox="1"/>
          <p:nvPr/>
        </p:nvSpPr>
        <p:spPr>
          <a:xfrm>
            <a:off x="8485632" y="2103120"/>
            <a:ext cx="3337560" cy="502920"/>
          </a:xfrm>
          <a:prstGeom prst="rect">
            <a:avLst/>
          </a:prstGeom>
          <a:noFill/>
        </p:spPr>
        <p:txBody>
          <a:bodyPr wrap="square" lIns="0" rIns="0" tIns="0" bIns="0" anchor="t">
            <a:spAutoFit/>
          </a:bodyPr>
          <a:lstStyle/>
          <a:p>
            <a:pPr algn="l">
              <a:lnSpc>
                <a:spcPct val="115000"/>
              </a:lnSpc>
            </a:pPr>
            <a:r>
              <a:rPr sz="1250" b="0" i="0">
                <a:solidFill>
                  <a:srgbClr val="5B6B7B"/>
                </a:solidFill>
                <a:latin typeface="Consolas"/>
              </a:rPr>
              <a:t>Generalization gap
(train vs held-out)</a:t>
            </a:r>
          </a:p>
        </p:txBody>
      </p:sp>
      <p:cxnSp>
        <p:nvCxnSpPr>
          <p:cNvPr id="34" name="Connector 33"/>
          <p:cNvCxnSpPr/>
          <p:nvPr/>
        </p:nvCxnSpPr>
        <p:spPr>
          <a:xfrm>
            <a:off x="8485632" y="2697480"/>
            <a:ext cx="3291840" cy="0"/>
          </a:xfrm>
          <a:prstGeom prst="line">
            <a:avLst/>
          </a:prstGeom>
          <a:ln w="1016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599932" y="2903220"/>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2834640"/>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Gap at n=40: +6.5% overfit on training set</a:t>
            </a:r>
          </a:p>
        </p:txBody>
      </p:sp>
      <p:sp>
        <p:nvSpPr>
          <p:cNvPr id="37" name="Oval 36"/>
          <p:cNvSpPr/>
          <p:nvPr/>
        </p:nvSpPr>
        <p:spPr>
          <a:xfrm>
            <a:off x="8599932" y="3378708"/>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33104" y="3310128"/>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Gap collapses to -0.04% at n=80</a:t>
            </a:r>
          </a:p>
        </p:txBody>
      </p:sp>
      <p:sp>
        <p:nvSpPr>
          <p:cNvPr id="39" name="Oval 38"/>
          <p:cNvSpPr/>
          <p:nvPr/>
        </p:nvSpPr>
        <p:spPr>
          <a:xfrm>
            <a:off x="8599932" y="3854196"/>
            <a:ext cx="82296" cy="822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33104" y="3785616"/>
            <a:ext cx="3017520" cy="438912"/>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~80 docs = effective convergence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548640" cy="274320"/>
          </a:xfrm>
          <a:prstGeom prst="rect">
            <a:avLst/>
          </a:prstGeom>
          <a:noFill/>
        </p:spPr>
        <p:txBody>
          <a:bodyPr wrap="square" lIns="0" rIns="0" tIns="0" bIns="0" anchor="t">
            <a:spAutoFit/>
          </a:bodyPr>
          <a:lstStyle/>
          <a:p>
            <a:pPr algn="r"/>
            <a:r>
              <a:rPr sz="1100" b="0" i="0">
                <a:solidFill>
                  <a:srgbClr val="5B6B7B"/>
                </a:solidFill>
                <a:latin typeface="Segoe UI"/>
              </a:rPr>
              <a:t>7 / 8</a:t>
            </a:r>
          </a:p>
        </p:txBody>
      </p:sp>
      <p:sp>
        <p:nvSpPr>
          <p:cNvPr id="3" name="TextBox 2"/>
          <p:cNvSpPr txBox="1"/>
          <p:nvPr/>
        </p:nvSpPr>
        <p:spPr>
          <a:xfrm>
            <a:off x="640080" y="438912"/>
            <a:ext cx="10972800" cy="548640"/>
          </a:xfrm>
          <a:prstGeom prst="rect">
            <a:avLst/>
          </a:prstGeom>
          <a:noFill/>
        </p:spPr>
        <p:txBody>
          <a:bodyPr wrap="square" lIns="0" rIns="0" tIns="0" bIns="0" anchor="t">
            <a:spAutoFit/>
          </a:bodyPr>
          <a:lstStyle/>
          <a:p>
            <a:pPr algn="l"/>
            <a:r>
              <a:rPr sz="3200" b="1" i="0">
                <a:solidFill>
                  <a:srgbClr val="15202B"/>
                </a:solidFill>
                <a:latin typeface="Segoe UI"/>
              </a:rPr>
              <a:t>Paper vs our findings — side by side</a:t>
            </a:r>
          </a:p>
        </p:txBody>
      </p:sp>
      <p:sp>
        <p:nvSpPr>
          <p:cNvPr id="4" name="TextBox 3"/>
          <p:cNvSpPr txBox="1"/>
          <p:nvPr/>
        </p:nvSpPr>
        <p:spPr>
          <a:xfrm>
            <a:off x="640080" y="1051560"/>
            <a:ext cx="10972800" cy="329184"/>
          </a:xfrm>
          <a:prstGeom prst="rect">
            <a:avLst/>
          </a:prstGeom>
          <a:noFill/>
        </p:spPr>
        <p:txBody>
          <a:bodyPr wrap="square" lIns="0" rIns="0" tIns="0" bIns="0" anchor="t">
            <a:spAutoFit/>
          </a:bodyPr>
          <a:lstStyle/>
          <a:p>
            <a:pPr algn="l"/>
            <a:r>
              <a:rPr sz="1400" b="0" i="0">
                <a:solidFill>
                  <a:srgbClr val="5B6B7B"/>
                </a:solidFill>
                <a:latin typeface="Segoe UI"/>
              </a:rPr>
              <a:t>Where the paper is confirmed, where it's incomplete, and what we added.</a:t>
            </a:r>
          </a:p>
        </p:txBody>
      </p:sp>
      <p:cxnSp>
        <p:nvCxnSpPr>
          <p:cNvPr id="5" name="Connector 4"/>
          <p:cNvCxnSpPr/>
          <p:nvPr/>
        </p:nvCxnSpPr>
        <p:spPr>
          <a:xfrm>
            <a:off x="640080" y="1536192"/>
            <a:ext cx="10972800" cy="0"/>
          </a:xfrm>
          <a:prstGeom prst="line">
            <a:avLst/>
          </a:prstGeom>
          <a:ln w="19050">
            <a:solidFill>
              <a:srgbClr val="15202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1572768"/>
            <a:ext cx="2743200" cy="347472"/>
          </a:xfrm>
          <a:prstGeom prst="rect">
            <a:avLst/>
          </a:prstGeom>
          <a:noFill/>
        </p:spPr>
        <p:txBody>
          <a:bodyPr wrap="square" lIns="0" rIns="0" tIns="0" bIns="0" anchor="t">
            <a:spAutoFit/>
          </a:bodyPr>
          <a:lstStyle/>
          <a:p>
            <a:pPr algn="l"/>
            <a:r>
              <a:rPr sz="1300" b="1" i="0">
                <a:solidFill>
                  <a:srgbClr val="15202B"/>
                </a:solidFill>
                <a:latin typeface="Segoe UI"/>
              </a:rPr>
              <a:t>Claim / Question</a:t>
            </a:r>
          </a:p>
        </p:txBody>
      </p:sp>
      <p:sp>
        <p:nvSpPr>
          <p:cNvPr id="7" name="TextBox 6"/>
          <p:cNvSpPr txBox="1"/>
          <p:nvPr/>
        </p:nvSpPr>
        <p:spPr>
          <a:xfrm>
            <a:off x="3611880" y="1572768"/>
            <a:ext cx="2971800" cy="347472"/>
          </a:xfrm>
          <a:prstGeom prst="rect">
            <a:avLst/>
          </a:prstGeom>
          <a:noFill/>
        </p:spPr>
        <p:txBody>
          <a:bodyPr wrap="square" lIns="0" rIns="0" tIns="0" bIns="0" anchor="t">
            <a:spAutoFit/>
          </a:bodyPr>
          <a:lstStyle/>
          <a:p>
            <a:pPr algn="l"/>
            <a:r>
              <a:rPr sz="1300" b="1" i="0">
                <a:solidFill>
                  <a:srgbClr val="15202B"/>
                </a:solidFill>
                <a:latin typeface="Segoe UI"/>
              </a:rPr>
              <a:t>Paper (CHI 2024)</a:t>
            </a:r>
          </a:p>
        </p:txBody>
      </p:sp>
      <p:sp>
        <p:nvSpPr>
          <p:cNvPr id="8" name="TextBox 7"/>
          <p:cNvSpPr txBox="1"/>
          <p:nvPr/>
        </p:nvSpPr>
        <p:spPr>
          <a:xfrm>
            <a:off x="6766560" y="1572768"/>
            <a:ext cx="2971800" cy="347472"/>
          </a:xfrm>
          <a:prstGeom prst="rect">
            <a:avLst/>
          </a:prstGeom>
          <a:noFill/>
        </p:spPr>
        <p:txBody>
          <a:bodyPr wrap="square" lIns="0" rIns="0" tIns="0" bIns="0" anchor="t">
            <a:spAutoFit/>
          </a:bodyPr>
          <a:lstStyle/>
          <a:p>
            <a:pPr algn="l"/>
            <a:r>
              <a:rPr sz="1300" b="1" i="0">
                <a:solidFill>
                  <a:srgbClr val="15202B"/>
                </a:solidFill>
                <a:latin typeface="Segoe UI"/>
              </a:rPr>
              <a:t>Our result</a:t>
            </a:r>
          </a:p>
        </p:txBody>
      </p:sp>
      <p:sp>
        <p:nvSpPr>
          <p:cNvPr id="9" name="TextBox 8"/>
          <p:cNvSpPr txBox="1"/>
          <p:nvPr/>
        </p:nvSpPr>
        <p:spPr>
          <a:xfrm>
            <a:off x="9921240" y="1572768"/>
            <a:ext cx="1600200" cy="347472"/>
          </a:xfrm>
          <a:prstGeom prst="rect">
            <a:avLst/>
          </a:prstGeom>
          <a:noFill/>
        </p:spPr>
        <p:txBody>
          <a:bodyPr wrap="square" lIns="0" rIns="0" tIns="0" bIns="0" anchor="t">
            <a:spAutoFit/>
          </a:bodyPr>
          <a:lstStyle/>
          <a:p>
            <a:pPr algn="l"/>
            <a:r>
              <a:rPr sz="1300" b="1" i="0">
                <a:solidFill>
                  <a:srgbClr val="15202B"/>
                </a:solidFill>
                <a:latin typeface="Segoe UI"/>
              </a:rPr>
              <a:t>Verdict</a:t>
            </a:r>
          </a:p>
        </p:txBody>
      </p:sp>
      <p:cxnSp>
        <p:nvCxnSpPr>
          <p:cNvPr id="10" name="Connector 9"/>
          <p:cNvCxnSpPr/>
          <p:nvPr/>
        </p:nvCxnSpPr>
        <p:spPr>
          <a:xfrm>
            <a:off x="640080" y="1993392"/>
            <a:ext cx="10972800" cy="0"/>
          </a:xfrm>
          <a:prstGeom prst="line">
            <a:avLst/>
          </a:prstGeom>
          <a:ln w="19050">
            <a:solidFill>
              <a:srgbClr val="15202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2057400"/>
            <a:ext cx="2788920" cy="475488"/>
          </a:xfrm>
          <a:prstGeom prst="rect">
            <a:avLst/>
          </a:prstGeom>
          <a:noFill/>
        </p:spPr>
        <p:txBody>
          <a:bodyPr wrap="square" lIns="0" rIns="0" tIns="0" bIns="0" anchor="t">
            <a:spAutoFit/>
          </a:bodyPr>
          <a:lstStyle/>
          <a:p>
            <a:pPr algn="l"/>
            <a:r>
              <a:rPr sz="1250" b="1" i="0">
                <a:solidFill>
                  <a:srgbClr val="15202B"/>
                </a:solidFill>
                <a:latin typeface="Segoe UI"/>
              </a:rPr>
              <a:t>Coverage &gt; BERTopic</a:t>
            </a:r>
          </a:p>
        </p:txBody>
      </p:sp>
      <p:sp>
        <p:nvSpPr>
          <p:cNvPr id="12" name="TextBox 11"/>
          <p:cNvSpPr txBox="1"/>
          <p:nvPr/>
        </p:nvSpPr>
        <p:spPr>
          <a:xfrm>
            <a:off x="3611880" y="2057400"/>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+17.9% on Congressional bills</a:t>
            </a:r>
          </a:p>
        </p:txBody>
      </p:sp>
      <p:sp>
        <p:nvSpPr>
          <p:cNvPr id="13" name="TextBox 12"/>
          <p:cNvSpPr txBox="1"/>
          <p:nvPr/>
        </p:nvSpPr>
        <p:spPr>
          <a:xfrm>
            <a:off x="6766560" y="2057400"/>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~0% BERTopic, 80% LLooM-Qwen @ n=160</a:t>
            </a:r>
          </a:p>
        </p:txBody>
      </p:sp>
      <p:sp>
        <p:nvSpPr>
          <p:cNvPr id="14" name="TextBox 13"/>
          <p:cNvSpPr txBox="1"/>
          <p:nvPr/>
        </p:nvSpPr>
        <p:spPr>
          <a:xfrm>
            <a:off x="9921240" y="2057400"/>
            <a:ext cx="1691640" cy="475488"/>
          </a:xfrm>
          <a:prstGeom prst="rect">
            <a:avLst/>
          </a:prstGeom>
          <a:noFill/>
        </p:spPr>
        <p:txBody>
          <a:bodyPr wrap="square" lIns="0" rIns="0" tIns="0" bIns="0" anchor="t">
            <a:spAutoFit/>
          </a:bodyPr>
          <a:lstStyle/>
          <a:p>
            <a:pPr algn="l"/>
            <a:r>
              <a:rPr sz="1200" b="1" i="0">
                <a:solidFill>
                  <a:srgbClr val="16A34A"/>
                </a:solidFill>
                <a:latin typeface="Segoe UI"/>
              </a:rPr>
              <a:t>Confirmed</a:t>
            </a:r>
          </a:p>
        </p:txBody>
      </p:sp>
      <p:cxnSp>
        <p:nvCxnSpPr>
          <p:cNvPr id="15" name="Connector 14"/>
          <p:cNvCxnSpPr/>
          <p:nvPr/>
        </p:nvCxnSpPr>
        <p:spPr>
          <a:xfrm>
            <a:off x="640080" y="2551176"/>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2569464"/>
            <a:ext cx="2788920" cy="475488"/>
          </a:xfrm>
          <a:prstGeom prst="rect">
            <a:avLst/>
          </a:prstGeom>
          <a:noFill/>
        </p:spPr>
        <p:txBody>
          <a:bodyPr wrap="square" lIns="0" rIns="0" tIns="0" bIns="0" anchor="t">
            <a:spAutoFit/>
          </a:bodyPr>
          <a:lstStyle/>
          <a:p>
            <a:pPr algn="l"/>
            <a:r>
              <a:rPr sz="1250" b="1" i="0">
                <a:solidFill>
                  <a:srgbClr val="15202B"/>
                </a:solidFill>
                <a:latin typeface="Segoe UI"/>
              </a:rPr>
              <a:t>Specific &gt; Generic</a:t>
            </a:r>
          </a:p>
        </p:txBody>
      </p:sp>
      <p:sp>
        <p:nvSpPr>
          <p:cNvPr id="17" name="TextBox 16"/>
          <p:cNvSpPr txBox="1"/>
          <p:nvPr/>
        </p:nvSpPr>
        <p:spPr>
          <a:xfrm>
            <a:off x="3611880" y="2569464"/>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+16.0% (p&lt;.0001)</a:t>
            </a:r>
          </a:p>
        </p:txBody>
      </p:sp>
      <p:sp>
        <p:nvSpPr>
          <p:cNvPr id="18" name="TextBox 17"/>
          <p:cNvSpPr txBox="1"/>
          <p:nvPr/>
        </p:nvSpPr>
        <p:spPr>
          <a:xfrm>
            <a:off x="6766560" y="2569464"/>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Specific 0.80 vs generic 0.90 at n=160</a:t>
            </a:r>
          </a:p>
        </p:txBody>
      </p:sp>
      <p:sp>
        <p:nvSpPr>
          <p:cNvPr id="19" name="TextBox 18"/>
          <p:cNvSpPr txBox="1"/>
          <p:nvPr/>
        </p:nvSpPr>
        <p:spPr>
          <a:xfrm>
            <a:off x="9921240" y="2569464"/>
            <a:ext cx="1691640" cy="475488"/>
          </a:xfrm>
          <a:prstGeom prst="rect">
            <a:avLst/>
          </a:prstGeom>
          <a:noFill/>
        </p:spPr>
        <p:txBody>
          <a:bodyPr wrap="square" lIns="0" rIns="0" tIns="0" bIns="0" anchor="t">
            <a:spAutoFit/>
          </a:bodyPr>
          <a:lstStyle/>
          <a:p>
            <a:pPr algn="l"/>
            <a:r>
              <a:rPr sz="1200" b="1" i="0">
                <a:solidFill>
                  <a:srgbClr val="16A34A"/>
                </a:solidFill>
                <a:latin typeface="Segoe UI"/>
              </a:rPr>
              <a:t>Confirmed</a:t>
            </a:r>
          </a:p>
        </p:txBody>
      </p:sp>
      <p:cxnSp>
        <p:nvCxnSpPr>
          <p:cNvPr id="20" name="Connector 19"/>
          <p:cNvCxnSpPr/>
          <p:nvPr/>
        </p:nvCxnSpPr>
        <p:spPr>
          <a:xfrm>
            <a:off x="640080" y="3063240"/>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 y="3081528"/>
            <a:ext cx="2788920" cy="475488"/>
          </a:xfrm>
          <a:prstGeom prst="rect">
            <a:avLst/>
          </a:prstGeom>
          <a:noFill/>
        </p:spPr>
        <p:txBody>
          <a:bodyPr wrap="square" lIns="0" rIns="0" tIns="0" bIns="0" anchor="t">
            <a:spAutoFit/>
          </a:bodyPr>
          <a:lstStyle/>
          <a:p>
            <a:pPr algn="l"/>
            <a:r>
              <a:rPr sz="1250" b="1" i="0">
                <a:solidFill>
                  <a:srgbClr val="15202B"/>
                </a:solidFill>
                <a:latin typeface="Segoe UI"/>
              </a:rPr>
              <a:t>Sample complexity curve</a:t>
            </a:r>
          </a:p>
        </p:txBody>
      </p:sp>
      <p:sp>
        <p:nvSpPr>
          <p:cNvPr id="22" name="TextBox 21"/>
          <p:cNvSpPr txBox="1"/>
          <p:nvPr/>
        </p:nvSpPr>
        <p:spPr>
          <a:xfrm>
            <a:off x="3611880" y="3081528"/>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Not measured (single n)</a:t>
            </a:r>
          </a:p>
        </p:txBody>
      </p:sp>
      <p:sp>
        <p:nvSpPr>
          <p:cNvPr id="23" name="TextBox 22"/>
          <p:cNvSpPr txBox="1"/>
          <p:nvPr/>
        </p:nvSpPr>
        <p:spPr>
          <a:xfrm>
            <a:off x="6766560" y="3081528"/>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0.01-&gt;0.80, ~80 docs = inflection point</a:t>
            </a:r>
          </a:p>
        </p:txBody>
      </p:sp>
      <p:sp>
        <p:nvSpPr>
          <p:cNvPr id="24" name="TextBox 23"/>
          <p:cNvSpPr txBox="1"/>
          <p:nvPr/>
        </p:nvSpPr>
        <p:spPr>
          <a:xfrm>
            <a:off x="9921240" y="3081528"/>
            <a:ext cx="1691640" cy="475488"/>
          </a:xfrm>
          <a:prstGeom prst="rect">
            <a:avLst/>
          </a:prstGeom>
          <a:noFill/>
        </p:spPr>
        <p:txBody>
          <a:bodyPr wrap="square" lIns="0" rIns="0" tIns="0" bIns="0" anchor="t">
            <a:spAutoFit/>
          </a:bodyPr>
          <a:lstStyle/>
          <a:p>
            <a:pPr algn="l"/>
            <a:r>
              <a:rPr sz="1200" b="1" i="0">
                <a:solidFill>
                  <a:srgbClr val="0F766E"/>
                </a:solidFill>
                <a:latin typeface="Segoe UI"/>
              </a:rPr>
              <a:t>New insight</a:t>
            </a:r>
          </a:p>
        </p:txBody>
      </p:sp>
      <p:cxnSp>
        <p:nvCxnSpPr>
          <p:cNvPr id="25" name="Connector 24"/>
          <p:cNvCxnSpPr/>
          <p:nvPr/>
        </p:nvCxnSpPr>
        <p:spPr>
          <a:xfrm>
            <a:off x="640080" y="3575304"/>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8368" y="3593592"/>
            <a:ext cx="2788920" cy="475488"/>
          </a:xfrm>
          <a:prstGeom prst="rect">
            <a:avLst/>
          </a:prstGeom>
          <a:noFill/>
        </p:spPr>
        <p:txBody>
          <a:bodyPr wrap="square" lIns="0" rIns="0" tIns="0" bIns="0" anchor="t">
            <a:spAutoFit/>
          </a:bodyPr>
          <a:lstStyle/>
          <a:p>
            <a:pPr algn="l"/>
            <a:r>
              <a:rPr sz="1250" b="1" i="0">
                <a:solidFill>
                  <a:srgbClr val="15202B"/>
                </a:solidFill>
                <a:latin typeface="Segoe UI"/>
              </a:rPr>
              <a:t>Variance / reproducibility</a:t>
            </a:r>
          </a:p>
        </p:txBody>
      </p:sp>
      <p:sp>
        <p:nvSpPr>
          <p:cNvPr id="27" name="TextBox 26"/>
          <p:cNvSpPr txBox="1"/>
          <p:nvPr/>
        </p:nvSpPr>
        <p:spPr>
          <a:xfrm>
            <a:off x="3611880" y="3593592"/>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Not measured</a:t>
            </a:r>
          </a:p>
        </p:txBody>
      </p:sp>
      <p:sp>
        <p:nvSpPr>
          <p:cNvPr id="28" name="TextBox 27"/>
          <p:cNvSpPr txBox="1"/>
          <p:nvPr/>
        </p:nvSpPr>
        <p:spPr>
          <a:xfrm>
            <a:off x="6766560" y="3593592"/>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CV collapses from 2.24 to 0.00</a:t>
            </a:r>
          </a:p>
        </p:txBody>
      </p:sp>
      <p:sp>
        <p:nvSpPr>
          <p:cNvPr id="29" name="TextBox 28"/>
          <p:cNvSpPr txBox="1"/>
          <p:nvPr/>
        </p:nvSpPr>
        <p:spPr>
          <a:xfrm>
            <a:off x="9921240" y="3593592"/>
            <a:ext cx="1691640" cy="475488"/>
          </a:xfrm>
          <a:prstGeom prst="rect">
            <a:avLst/>
          </a:prstGeom>
          <a:noFill/>
        </p:spPr>
        <p:txBody>
          <a:bodyPr wrap="square" lIns="0" rIns="0" tIns="0" bIns="0" anchor="t">
            <a:spAutoFit/>
          </a:bodyPr>
          <a:lstStyle/>
          <a:p>
            <a:pPr algn="l"/>
            <a:r>
              <a:rPr sz="1200" b="1" i="0">
                <a:solidFill>
                  <a:srgbClr val="0F766E"/>
                </a:solidFill>
                <a:latin typeface="Segoe UI"/>
              </a:rPr>
              <a:t>New insight</a:t>
            </a:r>
          </a:p>
        </p:txBody>
      </p:sp>
      <p:cxnSp>
        <p:nvCxnSpPr>
          <p:cNvPr id="30" name="Connector 29"/>
          <p:cNvCxnSpPr/>
          <p:nvPr/>
        </p:nvCxnSpPr>
        <p:spPr>
          <a:xfrm>
            <a:off x="640080" y="4087368"/>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8368" y="4105656"/>
            <a:ext cx="2788920" cy="475488"/>
          </a:xfrm>
          <a:prstGeom prst="rect">
            <a:avLst/>
          </a:prstGeom>
          <a:noFill/>
        </p:spPr>
        <p:txBody>
          <a:bodyPr wrap="square" lIns="0" rIns="0" tIns="0" bIns="0" anchor="t">
            <a:spAutoFit/>
          </a:bodyPr>
          <a:lstStyle/>
          <a:p>
            <a:pPr algn="l"/>
            <a:r>
              <a:rPr sz="1250" b="1" i="0">
                <a:solidFill>
                  <a:srgbClr val="15202B"/>
                </a:solidFill>
                <a:latin typeface="Segoe UI"/>
              </a:rPr>
              <a:t>Label robustness</a:t>
            </a:r>
          </a:p>
        </p:txBody>
      </p:sp>
      <p:sp>
        <p:nvSpPr>
          <p:cNvPr id="32" name="TextBox 31"/>
          <p:cNvSpPr txBox="1"/>
          <p:nvPr/>
        </p:nvSpPr>
        <p:spPr>
          <a:xfrm>
            <a:off x="3611880" y="4105656"/>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Not tested</a:t>
            </a:r>
          </a:p>
        </p:txBody>
      </p:sp>
      <p:sp>
        <p:nvSpPr>
          <p:cNvPr id="33" name="TextBox 32"/>
          <p:cNvSpPr txBox="1"/>
          <p:nvPr/>
        </p:nvSpPr>
        <p:spPr>
          <a:xfrm>
            <a:off x="6766560" y="4105656"/>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94.8% F1 collapse on derangements</a:t>
            </a:r>
          </a:p>
        </p:txBody>
      </p:sp>
      <p:sp>
        <p:nvSpPr>
          <p:cNvPr id="34" name="TextBox 33"/>
          <p:cNvSpPr txBox="1"/>
          <p:nvPr/>
        </p:nvSpPr>
        <p:spPr>
          <a:xfrm>
            <a:off x="9921240" y="4105656"/>
            <a:ext cx="1691640" cy="475488"/>
          </a:xfrm>
          <a:prstGeom prst="rect">
            <a:avLst/>
          </a:prstGeom>
          <a:noFill/>
        </p:spPr>
        <p:txBody>
          <a:bodyPr wrap="square" lIns="0" rIns="0" tIns="0" bIns="0" anchor="t">
            <a:spAutoFit/>
          </a:bodyPr>
          <a:lstStyle/>
          <a:p>
            <a:pPr algn="l"/>
            <a:r>
              <a:rPr sz="1200" b="1" i="0">
                <a:solidFill>
                  <a:srgbClr val="D97706"/>
                </a:solidFill>
                <a:latin typeface="Segoe UI"/>
              </a:rPr>
              <a:t>New insight</a:t>
            </a:r>
          </a:p>
        </p:txBody>
      </p:sp>
      <p:cxnSp>
        <p:nvCxnSpPr>
          <p:cNvPr id="35" name="Connector 34"/>
          <p:cNvCxnSpPr/>
          <p:nvPr/>
        </p:nvCxnSpPr>
        <p:spPr>
          <a:xfrm>
            <a:off x="640080" y="4599432"/>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8368" y="4617720"/>
            <a:ext cx="2788920" cy="475488"/>
          </a:xfrm>
          <a:prstGeom prst="rect">
            <a:avLst/>
          </a:prstGeom>
          <a:noFill/>
        </p:spPr>
        <p:txBody>
          <a:bodyPr wrap="square" lIns="0" rIns="0" tIns="0" bIns="0" anchor="t">
            <a:spAutoFit/>
          </a:bodyPr>
          <a:lstStyle/>
          <a:p>
            <a:pPr algn="l"/>
            <a:r>
              <a:rPr sz="1250" b="1" i="0">
                <a:solidFill>
                  <a:srgbClr val="15202B"/>
                </a:solidFill>
                <a:latin typeface="Segoe UI"/>
              </a:rPr>
              <a:t>Generalization gap</a:t>
            </a:r>
          </a:p>
        </p:txBody>
      </p:sp>
      <p:sp>
        <p:nvSpPr>
          <p:cNvPr id="37" name="TextBox 36"/>
          <p:cNvSpPr txBox="1"/>
          <p:nvPr/>
        </p:nvSpPr>
        <p:spPr>
          <a:xfrm>
            <a:off x="3611880" y="4617720"/>
            <a:ext cx="2834640" cy="475488"/>
          </a:xfrm>
          <a:prstGeom prst="rect">
            <a:avLst/>
          </a:prstGeom>
          <a:noFill/>
        </p:spPr>
        <p:txBody>
          <a:bodyPr wrap="square" lIns="0" rIns="0" tIns="0" bIns="0" anchor="t">
            <a:spAutoFit/>
          </a:bodyPr>
          <a:lstStyle/>
          <a:p>
            <a:pPr algn="l">
              <a:lnSpc>
                <a:spcPct val="110000"/>
              </a:lnSpc>
            </a:pPr>
            <a:r>
              <a:rPr sz="1250" b="0" i="0">
                <a:solidFill>
                  <a:srgbClr val="5B6B7B"/>
                </a:solidFill>
                <a:latin typeface="Segoe UI"/>
              </a:rPr>
              <a:t>Not measured</a:t>
            </a:r>
          </a:p>
        </p:txBody>
      </p:sp>
      <p:sp>
        <p:nvSpPr>
          <p:cNvPr id="38" name="TextBox 37"/>
          <p:cNvSpPr txBox="1"/>
          <p:nvPr/>
        </p:nvSpPr>
        <p:spPr>
          <a:xfrm>
            <a:off x="6766560" y="4617720"/>
            <a:ext cx="2926080" cy="475488"/>
          </a:xfrm>
          <a:prstGeom prst="rect">
            <a:avLst/>
          </a:prstGeom>
          <a:noFill/>
        </p:spPr>
        <p:txBody>
          <a:bodyPr wrap="square" lIns="0" rIns="0" tIns="0" bIns="0" anchor="t">
            <a:spAutoFit/>
          </a:bodyPr>
          <a:lstStyle/>
          <a:p>
            <a:pPr algn="l">
              <a:lnSpc>
                <a:spcPct val="110000"/>
              </a:lnSpc>
            </a:pPr>
            <a:r>
              <a:rPr sz="1250" b="0" i="0">
                <a:solidFill>
                  <a:srgbClr val="15202B"/>
                </a:solidFill>
                <a:latin typeface="Segoe UI"/>
              </a:rPr>
              <a:t>Gap -0.04% at n=80 (convergence)</a:t>
            </a:r>
          </a:p>
        </p:txBody>
      </p:sp>
      <p:sp>
        <p:nvSpPr>
          <p:cNvPr id="39" name="TextBox 38"/>
          <p:cNvSpPr txBox="1"/>
          <p:nvPr/>
        </p:nvSpPr>
        <p:spPr>
          <a:xfrm>
            <a:off x="9921240" y="4617720"/>
            <a:ext cx="1691640" cy="475488"/>
          </a:xfrm>
          <a:prstGeom prst="rect">
            <a:avLst/>
          </a:prstGeom>
          <a:noFill/>
        </p:spPr>
        <p:txBody>
          <a:bodyPr wrap="square" lIns="0" rIns="0" tIns="0" bIns="0" anchor="t">
            <a:spAutoFit/>
          </a:bodyPr>
          <a:lstStyle/>
          <a:p>
            <a:pPr algn="l"/>
            <a:r>
              <a:rPr sz="1200" b="1" i="0">
                <a:solidFill>
                  <a:srgbClr val="D97706"/>
                </a:solidFill>
                <a:latin typeface="Segoe UI"/>
              </a:rPr>
              <a:t>New insight</a:t>
            </a:r>
          </a:p>
        </p:txBody>
      </p:sp>
      <p:cxnSp>
        <p:nvCxnSpPr>
          <p:cNvPr id="40" name="Connector 39"/>
          <p:cNvCxnSpPr/>
          <p:nvPr/>
        </p:nvCxnSpPr>
        <p:spPr>
          <a:xfrm>
            <a:off x="640080" y="5111496"/>
            <a:ext cx="10972800" cy="0"/>
          </a:xfrm>
          <a:prstGeom prst="line">
            <a:avLst/>
          </a:prstGeom>
          <a:ln w="7620">
            <a:solidFill>
              <a:srgbClr val="DDE5E9"/>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421"/>
        </a:solidFill>
        <a:effectLst/>
      </p:bgPr>
    </p:bg>
    <p:spTree>
      <p:nvGrpSpPr>
        <p:cNvPr id="1" name=""/>
        <p:cNvGrpSpPr/>
        <p:nvPr/>
      </p:nvGrpSpPr>
      <p:grpSpPr/>
      <p:sp>
        <p:nvSpPr>
          <p:cNvPr id="2" name="TextBox 1"/>
          <p:cNvSpPr txBox="1"/>
          <p:nvPr/>
        </p:nvSpPr>
        <p:spPr>
          <a:xfrm>
            <a:off x="640080" y="566928"/>
            <a:ext cx="4572000" cy="320040"/>
          </a:xfrm>
          <a:prstGeom prst="rect">
            <a:avLst/>
          </a:prstGeom>
          <a:noFill/>
        </p:spPr>
        <p:txBody>
          <a:bodyPr wrap="square" lIns="0" rIns="0" tIns="0" bIns="0" anchor="t">
            <a:spAutoFit/>
          </a:bodyPr>
          <a:lstStyle/>
          <a:p>
            <a:pPr algn="l"/>
            <a:r>
              <a:rPr sz="1200" b="1" i="0" spc="200">
                <a:solidFill>
                  <a:srgbClr val="5EC8BC"/>
                </a:solidFill>
                <a:latin typeface="Segoe UI"/>
              </a:rPr>
              <a:t>TEAM</a:t>
            </a:r>
          </a:p>
        </p:txBody>
      </p:sp>
      <p:sp>
        <p:nvSpPr>
          <p:cNvPr id="3" name="Rounded Rectangle 2"/>
          <p:cNvSpPr/>
          <p:nvPr/>
        </p:nvSpPr>
        <p:spPr>
          <a:xfrm>
            <a:off x="640080" y="1024128"/>
            <a:ext cx="5303520" cy="1737360"/>
          </a:xfrm>
          <a:prstGeom prst="roundRect">
            <a:avLst>
              <a:gd name="adj" fmla="val 9000"/>
            </a:avLst>
          </a:prstGeom>
          <a:solidFill>
            <a:srgbClr val="18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280160"/>
            <a:ext cx="4754880" cy="457200"/>
          </a:xfrm>
          <a:prstGeom prst="rect">
            <a:avLst/>
          </a:prstGeom>
          <a:noFill/>
        </p:spPr>
        <p:txBody>
          <a:bodyPr wrap="square" lIns="0" rIns="0" tIns="0" bIns="0" anchor="t">
            <a:spAutoFit/>
          </a:bodyPr>
          <a:lstStyle/>
          <a:p>
            <a:pPr algn="l"/>
            <a:r>
              <a:rPr sz="2200" b="1" i="0">
                <a:solidFill>
                  <a:srgbClr val="FFFFFF"/>
                </a:solidFill>
                <a:latin typeface="Segoe UI"/>
              </a:rPr>
              <a:t>Aaryan</a:t>
            </a:r>
          </a:p>
        </p:txBody>
      </p:sp>
      <p:sp>
        <p:nvSpPr>
          <p:cNvPr id="5" name="TextBox 4"/>
          <p:cNvSpPr txBox="1"/>
          <p:nvPr/>
        </p:nvSpPr>
        <p:spPr>
          <a:xfrm>
            <a:off x="960120" y="1773936"/>
            <a:ext cx="4754880" cy="384048"/>
          </a:xfrm>
          <a:prstGeom prst="rect">
            <a:avLst/>
          </a:prstGeom>
          <a:noFill/>
        </p:spPr>
        <p:txBody>
          <a:bodyPr wrap="square" lIns="0" rIns="0" tIns="0" bIns="0" anchor="t">
            <a:spAutoFit/>
          </a:bodyPr>
          <a:lstStyle/>
          <a:p>
            <a:pPr algn="l"/>
            <a:r>
              <a:rPr sz="1300" b="0" i="0">
                <a:solidFill>
                  <a:srgbClr val="8FA1B3"/>
                </a:solidFill>
                <a:latin typeface="Segoe UI"/>
              </a:rPr>
              <a:t>Design  |  pipeline  |  125-cell study  |  analysis</a:t>
            </a:r>
          </a:p>
        </p:txBody>
      </p:sp>
      <p:sp>
        <p:nvSpPr>
          <p:cNvPr id="6" name="TextBox 5"/>
          <p:cNvSpPr txBox="1"/>
          <p:nvPr/>
        </p:nvSpPr>
        <p:spPr>
          <a:xfrm>
            <a:off x="960120" y="2212848"/>
            <a:ext cx="4754880" cy="320040"/>
          </a:xfrm>
          <a:prstGeom prst="rect">
            <a:avLst/>
          </a:prstGeom>
          <a:noFill/>
        </p:spPr>
        <p:txBody>
          <a:bodyPr wrap="square" lIns="0" rIns="0" tIns="0" bIns="0" anchor="t">
            <a:spAutoFit/>
          </a:bodyPr>
          <a:lstStyle/>
          <a:p>
            <a:pPr algn="l"/>
            <a:r>
              <a:rPr sz="1250" b="0" i="0">
                <a:solidFill>
                  <a:srgbClr val="5EC8BC"/>
                </a:solidFill>
                <a:latin typeface="Consolas"/>
              </a:rPr>
              <a:t>github.com/aaryanmax</a:t>
            </a:r>
          </a:p>
        </p:txBody>
      </p:sp>
      <p:sp>
        <p:nvSpPr>
          <p:cNvPr id="7" name="Rounded Rectangle 6"/>
          <p:cNvSpPr/>
          <p:nvPr/>
        </p:nvSpPr>
        <p:spPr>
          <a:xfrm>
            <a:off x="6492240" y="1024128"/>
            <a:ext cx="5029200" cy="1737360"/>
          </a:xfrm>
          <a:prstGeom prst="roundRect">
            <a:avLst>
              <a:gd name="adj" fmla="val 9000"/>
            </a:avLst>
          </a:prstGeom>
          <a:solidFill>
            <a:srgbClr val="182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280160"/>
            <a:ext cx="4389120" cy="411480"/>
          </a:xfrm>
          <a:prstGeom prst="rect">
            <a:avLst/>
          </a:prstGeom>
          <a:noFill/>
        </p:spPr>
        <p:txBody>
          <a:bodyPr wrap="square" lIns="0" rIns="0" tIns="0" bIns="0" anchor="t">
            <a:spAutoFit/>
          </a:bodyPr>
          <a:lstStyle/>
          <a:p>
            <a:pPr algn="l"/>
            <a:r>
              <a:rPr sz="1800" b="1" i="0">
                <a:solidFill>
                  <a:srgbClr val="FFFFFF"/>
                </a:solidFill>
                <a:latin typeface="Segoe UI"/>
              </a:rPr>
              <a:t>Stack</a:t>
            </a:r>
          </a:p>
        </p:txBody>
      </p:sp>
      <p:sp>
        <p:nvSpPr>
          <p:cNvPr id="9" name="TextBox 8"/>
          <p:cNvSpPr txBox="1"/>
          <p:nvPr/>
        </p:nvSpPr>
        <p:spPr>
          <a:xfrm>
            <a:off x="6812280" y="1755648"/>
            <a:ext cx="4389120" cy="822960"/>
          </a:xfrm>
          <a:prstGeom prst="rect">
            <a:avLst/>
          </a:prstGeom>
          <a:noFill/>
        </p:spPr>
        <p:txBody>
          <a:bodyPr wrap="square" lIns="0" rIns="0" tIns="0" bIns="0" anchor="t">
            <a:spAutoFit/>
          </a:bodyPr>
          <a:lstStyle/>
          <a:p>
            <a:pPr algn="l">
              <a:lnSpc>
                <a:spcPct val="130000"/>
              </a:lnSpc>
            </a:pPr>
            <a:r>
              <a:rPr sz="1250" b="0" i="0">
                <a:solidFill>
                  <a:srgbClr val="8FA1B3"/>
                </a:solidFill>
                <a:latin typeface="Segoe UI"/>
              </a:rPr>
              <a:t>Qwen3-8B local  |  Gemini Flash-Lite  |  Kaggle T4
</a:t>
            </a:r>
            <a:r>
              <a:rPr sz="1250" b="0" i="0">
                <a:solidFill>
                  <a:srgbClr val="8FA1B3"/>
                </a:solidFill>
                <a:latin typeface="Segoe UI"/>
              </a:rPr>
              <a:t>78 tests  |  SQLite cache  |  Streamlit dashboard</a:t>
            </a:r>
          </a:p>
        </p:txBody>
      </p:sp>
      <p:cxnSp>
        <p:nvCxnSpPr>
          <p:cNvPr id="10" name="Connector 9"/>
          <p:cNvCxnSpPr/>
          <p:nvPr/>
        </p:nvCxnSpPr>
        <p:spPr>
          <a:xfrm>
            <a:off x="640080" y="3017520"/>
            <a:ext cx="10972800" cy="0"/>
          </a:xfrm>
          <a:prstGeom prst="line">
            <a:avLst/>
          </a:prstGeom>
          <a:ln w="12700">
            <a:solidFill>
              <a:srgbClr val="283448"/>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246120"/>
            <a:ext cx="10972800" cy="1554480"/>
          </a:xfrm>
          <a:prstGeom prst="rect">
            <a:avLst/>
          </a:prstGeom>
          <a:noFill/>
        </p:spPr>
        <p:txBody>
          <a:bodyPr wrap="square" lIns="0" rIns="0" tIns="0" bIns="0" anchor="t">
            <a:spAutoFit/>
          </a:bodyPr>
          <a:lstStyle/>
          <a:p>
            <a:pPr algn="l">
              <a:lnSpc>
                <a:spcPct val="120000"/>
              </a:lnSpc>
            </a:pPr>
            <a:r>
              <a:rPr sz="3000" b="1" i="0">
                <a:solidFill>
                  <a:srgbClr val="FFFFFF"/>
                </a:solidFill>
                <a:latin typeface="Segoe UI"/>
              </a:rPr>
              <a:t>LLooM works — and </a:t>
            </a:r>
            <a:r>
              <a:rPr sz="3000" b="1" i="0">
                <a:solidFill>
                  <a:srgbClr val="D97706"/>
                </a:solidFill>
                <a:latin typeface="Segoe UI"/>
              </a:rPr>
              <a:t>~80 documents</a:t>
            </a:r>
            <a:r>
              <a:rPr sz="3000" b="1" i="0">
                <a:solidFill>
                  <a:srgbClr val="FFFFFF"/>
                </a:solidFill>
                <a:latin typeface="Segoe UI"/>
              </a:rPr>
              <a:t> is where it converges.
</a:t>
            </a:r>
            <a:r>
              <a:rPr sz="2200" b="1" i="0">
                <a:solidFill>
                  <a:srgbClr val="FFFFFF"/>
                </a:solidFill>
                <a:latin typeface="Segoe UI"/>
              </a:rPr>
              <a:t>The paper's gains are real; the curve is what was missing.</a:t>
            </a:r>
          </a:p>
        </p:txBody>
      </p:sp>
      <p:sp>
        <p:nvSpPr>
          <p:cNvPr id="12" name="TextBox 11"/>
          <p:cNvSpPr txBox="1"/>
          <p:nvPr/>
        </p:nvSpPr>
        <p:spPr>
          <a:xfrm>
            <a:off x="640080" y="5285232"/>
            <a:ext cx="7315200" cy="384048"/>
          </a:xfrm>
          <a:prstGeom prst="rect">
            <a:avLst/>
          </a:prstGeom>
          <a:noFill/>
        </p:spPr>
        <p:txBody>
          <a:bodyPr wrap="square" lIns="0" rIns="0" tIns="0" bIns="0" anchor="t">
            <a:spAutoFit/>
          </a:bodyPr>
          <a:lstStyle/>
          <a:p>
            <a:pPr algn="l"/>
            <a:r>
              <a:rPr sz="1900" b="0" i="0">
                <a:solidFill>
                  <a:srgbClr val="8FA1B3"/>
                </a:solidFill>
                <a:latin typeface="Segoe UI"/>
              </a:rPr>
              <a:t>Thank you — questions?</a:t>
            </a:r>
          </a:p>
        </p:txBody>
      </p:sp>
      <p:sp>
        <p:nvSpPr>
          <p:cNvPr id="13" name="TextBox 12"/>
          <p:cNvSpPr txBox="1"/>
          <p:nvPr/>
        </p:nvSpPr>
        <p:spPr>
          <a:xfrm>
            <a:off x="640080" y="6016752"/>
            <a:ext cx="10972800" cy="320040"/>
          </a:xfrm>
          <a:prstGeom prst="rect">
            <a:avLst/>
          </a:prstGeom>
          <a:noFill/>
        </p:spPr>
        <p:txBody>
          <a:bodyPr wrap="square" lIns="0" rIns="0" tIns="0" bIns="0" anchor="t">
            <a:spAutoFit/>
          </a:bodyPr>
          <a:lstStyle/>
          <a:p>
            <a:pPr algn="l"/>
            <a:r>
              <a:rPr sz="1200" b="0" i="0">
                <a:solidFill>
                  <a:srgbClr val="384860"/>
                </a:solidFill>
                <a:latin typeface="Consolas"/>
              </a:rPr>
              <a:t>lloom-lab  |  arXiv:2404.12259  |  Advanced ML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